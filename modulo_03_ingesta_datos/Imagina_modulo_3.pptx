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DM Sans Medium"/>
      <p:regular r:id="rId35"/>
      <p:bold r:id="rId36"/>
      <p:italic r:id="rId37"/>
      <p:boldItalic r:id="rId38"/>
    </p:embeddedFont>
    <p:embeddedFont>
      <p:font typeface="DM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9A4D55-0363-406D-A354-D47B5B8E7130}">
  <a:tblStyle styleId="{659A4D55-0363-406D-A354-D47B5B8E713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.fntdata"/><Relationship Id="rId20" Type="http://schemas.openxmlformats.org/officeDocument/2006/relationships/slide" Target="slides/slide13.xml"/><Relationship Id="rId42" Type="http://schemas.openxmlformats.org/officeDocument/2006/relationships/font" Target="fonts/DMSans-boldItalic.fntdata"/><Relationship Id="rId41" Type="http://schemas.openxmlformats.org/officeDocument/2006/relationships/font" Target="fonts/DMSans-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DMSansMedium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DMSansMedium-italic.fntdata"/><Relationship Id="rId14" Type="http://schemas.openxmlformats.org/officeDocument/2006/relationships/slide" Target="slides/slide7.xml"/><Relationship Id="rId36" Type="http://schemas.openxmlformats.org/officeDocument/2006/relationships/font" Target="fonts/DMSansMedium-bold.fntdata"/><Relationship Id="rId17" Type="http://schemas.openxmlformats.org/officeDocument/2006/relationships/slide" Target="slides/slide10.xml"/><Relationship Id="rId39" Type="http://schemas.openxmlformats.org/officeDocument/2006/relationships/font" Target="fonts/DMSans-regular.fntdata"/><Relationship Id="rId16" Type="http://schemas.openxmlformats.org/officeDocument/2006/relationships/slide" Target="slides/slide9.xml"/><Relationship Id="rId38" Type="http://schemas.openxmlformats.org/officeDocument/2006/relationships/font" Target="fonts/DMSansMedium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Abrir con el ejemplo de la empresa que analizó patrones de Slack para predecir rotación. Preguntar a la audiencia si les parece legítimo.</a:t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Hacer ejercicio interactivo. Pedir a alguien que nombre un dato que recopilan y pasarlo por los 4 filtros juntos.</a:t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Enfatizar que el mayor valor de ML (y de Vertex AI) está en datos semiestructurados y comportamentales. Un HRIS da reporting; Vertex AI da predicción.</a:t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Recalcar que sin el feedback loop (fase 7), no hay mejora. Muchas organizaciones llegan hasta 'Análisis' y no cierran el ciclo.</a:t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Este es el caso más común en People Analytics. Detenerse en la trampa del sesgo — si históricamente se van más mujeres post-maternidad, el modelo lo codifica como 'señal'.</a:t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El cluster 2 es el más interesante — demuestra cómo el dato revela problemas de liderazgo. Manejar con sensibilidad: no es 'culpar al manager' sino entender patrones.</a:t>
            </a:r>
            <a:endParaRPr/>
          </a:p>
        </p:txBody>
      </p:sp>
      <p:sp>
        <p:nvSpPr>
          <p:cNvPr id="219" name="Google Shape;219;p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Este caso suele generar debate. El lenguaje que usamos revela sesgos inconscientes. Es un caso perfecto para LLMs.</a:t>
            </a:r>
            <a:endParaRPr/>
          </a:p>
        </p:txBody>
      </p:sp>
      <p:sp>
        <p:nvSpPr>
          <p:cNvPr id="244" name="Google Shape;244;p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Conectar con el caso de Amazon que tuvo que retirar su herramienta de screening de CVs por sesgo de género. Es un caso muy conocido y relevante.</a:t>
            </a:r>
            <a:endParaRPr/>
          </a:p>
        </p:txBody>
      </p:sp>
      <p:sp>
        <p:nvSpPr>
          <p:cNvPr id="261" name="Google Shape;261;p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Pasar rápido pero detenerse en feedback loops y proxy discrimination, que son los menos intuitivos.</a:t>
            </a:r>
            <a:endParaRPr/>
          </a:p>
        </p:txBody>
      </p:sp>
      <p:sp>
        <p:nvSpPr>
          <p:cNvPr id="278" name="Google Shape;278;p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Un dashboard informativo tiene bajo riesgo. Un sistema que recomienda a quién promover debe pasar auditorías de sesgo.</a:t>
            </a:r>
            <a:endParaRPr/>
          </a:p>
        </p:txBody>
      </p:sp>
      <p:sp>
        <p:nvSpPr>
          <p:cNvPr id="286" name="Google Shape;286;p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Detenerse en Art. 22 — un score de Vertex AI NO puede ser la única base para despido o no-promoción.</a:t>
            </a:r>
            <a:endParaRPr/>
          </a:p>
        </p:txBody>
      </p:sp>
      <p:sp>
        <p:nvSpPr>
          <p:cNvPr id="303" name="Google Shape;303;p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Imprimir esto y tenerlo visible en cada proyecto. Es la mejor herramienta anti-riesgo.</a:t>
            </a:r>
            <a:endParaRPr/>
          </a:p>
        </p:txBody>
      </p:sp>
      <p:sp>
        <p:nvSpPr>
          <p:cNvPr id="313" name="Google Shape;313;p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El mensaje clave es que los sesgos no son un error del modelo sino una herencia de los datos. Hay que buscarlos activamente.</a:t>
            </a:r>
            <a:endParaRPr/>
          </a:p>
        </p:txBody>
      </p:sp>
      <p:sp>
        <p:nvSpPr>
          <p:cNvPr id="346" name="Google Shape;346;p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Analogía con seguridad — no pones solo un firewall, pones defensa en profundidad. Con sesgos es igual.</a:t>
            </a:r>
            <a:endParaRPr/>
          </a:p>
        </p:txBody>
      </p:sp>
      <p:sp>
        <p:nvSpPr>
          <p:cNvPr id="356" name="Google Shape;356;p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p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Preguntar a la audiencia qué modelo tienen y qué problemas encuentran. Suele generar buena discusión.</a:t>
            </a:r>
            <a:endParaRPr/>
          </a:p>
        </p:txBody>
      </p:sp>
      <p:sp>
        <p:nvSpPr>
          <p:cNvPr id="396" name="Google Shape;396;p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Hacer el assessment rápido (10 preguntas sí/no) con la audiencia. Genera autoconciencia y motivación.</a:t>
            </a:r>
            <a:endParaRPr/>
          </a:p>
        </p:txBody>
      </p:sp>
      <p:sp>
        <p:nvSpPr>
          <p:cNvPr id="406" name="Google Shape;406;p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Pedir que levanten la mano por niveles. Normalizar que la mayoría esté en nivel 2-3; el curso está diseñado para subir de nivel.</a:t>
            </a:r>
            <a:endParaRPr/>
          </a:p>
        </p:txBody>
      </p:sp>
      <p:sp>
        <p:nvSpPr>
          <p:cNvPr id="433" name="Google Shape;433;p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2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9" name="Google Shape;469;p2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6" name="Google Shape;496;p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0" name="Google Shape;510;p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/>
        </p:nvSpPr>
        <p:spPr>
          <a:xfrm>
            <a:off x="792000" y="1790025"/>
            <a:ext cx="756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BBBEBF"/>
                </a:solidFill>
                <a:latin typeface="Arial"/>
                <a:ea typeface="Arial"/>
                <a:cs typeface="Arial"/>
                <a:sym typeface="Arial"/>
              </a:rPr>
              <a:t>Google Cloud Platform y Vertex AI</a:t>
            </a:r>
            <a:r>
              <a:rPr b="0" i="0" lang="es" sz="2400" u="none" cap="none" strike="noStrike">
                <a:solidFill>
                  <a:srgbClr val="BBBEB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" sz="2400" u="none" cap="none" strike="noStrike">
                <a:solidFill>
                  <a:srgbClr val="BBBEBF"/>
                </a:solidFill>
                <a:latin typeface="Arial"/>
                <a:ea typeface="Arial"/>
                <a:cs typeface="Arial"/>
                <a:sym typeface="Arial"/>
              </a:rPr>
              <a:t>para Analistas de Datos Avanzados</a:t>
            </a:r>
            <a:endParaRPr b="1" i="0" sz="2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" name="Google Shape;57;p15"/>
          <p:cNvSpPr txBox="1"/>
          <p:nvPr/>
        </p:nvSpPr>
        <p:spPr>
          <a:xfrm>
            <a:off x="496200" y="2621313"/>
            <a:ext cx="815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Carlos Gutiérrez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5"/>
          <p:cNvSpPr txBox="1"/>
          <p:nvPr/>
        </p:nvSpPr>
        <p:spPr>
          <a:xfrm>
            <a:off x="496200" y="2975257"/>
            <a:ext cx="8151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" sz="1050" u="none" cap="none" strike="noStrike">
                <a:solidFill>
                  <a:srgbClr val="BBBEBF"/>
                </a:solidFill>
                <a:latin typeface="Arial"/>
                <a:ea typeface="Arial"/>
                <a:cs typeface="Arial"/>
                <a:sym typeface="Arial"/>
              </a:rPr>
              <a:t> Módulo 3 · Ingesta de Datos en Google Cloud Platform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5"/>
          <p:cNvSpPr txBox="1"/>
          <p:nvPr/>
        </p:nvSpPr>
        <p:spPr>
          <a:xfrm>
            <a:off x="7291132" y="120225"/>
            <a:ext cx="1681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Agenda del Módulo 3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548640" y="777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PEOPLE ANALYTICS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7" name="Google Shape;67;p16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{659A4D55-0363-406D-A354-D47B5B8E7130}</a:tableStyleId>
              </a:tblPr>
              <a:tblGrid>
                <a:gridCol w="1097275"/>
                <a:gridCol w="5303525"/>
                <a:gridCol w="1645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s" sz="1200" u="none" cap="none" strike="noStrike">
                          <a:solidFill>
                            <a:srgbClr val="FFFFFF"/>
                          </a:solidFill>
                        </a:rPr>
                        <a:t>Bloque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s" sz="1200" u="none" cap="none" strike="noStrike">
                          <a:solidFill>
                            <a:srgbClr val="FFFFFF"/>
                          </a:solidFill>
                        </a:rPr>
                        <a:t>Tema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s" sz="1200" u="none" cap="none" strike="noStrike">
                          <a:solidFill>
                            <a:srgbClr val="FFFFFF"/>
                          </a:solidFill>
                        </a:rPr>
                        <a:t>T/P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3.1 Introducción a Pub/Sub como sistema de mensajería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10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3.2 Integración con APIs externas y sistemas corporativos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15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3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3.3 Arquitecturas de ingestión en tiempo real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10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4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3.4 Comparación de costes: streaming vs batch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10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5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Conexión con el notebook + transición al M4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5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Google Shape;68;p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6000"/>
              <a:buFont typeface="Georgia"/>
              <a:buNone/>
            </a:pPr>
            <a:r>
              <a:rPr b="1" i="0" lang="es" sz="6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Pub/Sub como sistema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mensajería asíncrona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¿Qué es Pub/Sub y por qué usarlo?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8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alibri"/>
              <a:buNone/>
            </a:pPr>
            <a:r>
              <a:rPr b="1" i="1" lang="e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Pub/Sub desacopla quién produce los datos de quién los consume.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8"/>
          <p:cNvSpPr/>
          <p:nvPr/>
        </p:nvSpPr>
        <p:spPr>
          <a:xfrm>
            <a:off x="54864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8"/>
          <p:cNvSpPr/>
          <p:nvPr/>
        </p:nvSpPr>
        <p:spPr>
          <a:xfrm>
            <a:off x="548640" y="1554480"/>
            <a:ext cx="24688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731520" y="17830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Desacoplamiento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731520" y="21945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El publisher no sabe ni le importa quién consume. Puedes añadir/quitar consumidores sin tocar el origen.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8"/>
          <p:cNvSpPr/>
          <p:nvPr/>
        </p:nvSpPr>
        <p:spPr>
          <a:xfrm>
            <a:off x="338328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3383280" y="155448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3566160" y="17830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Asíncrono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3566160" y="21945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El publisher no espera respuesta. Un pico de eventos no bloquea al sistema fuente.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621792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6217920" y="155448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6400800" y="17830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Escalable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6400800" y="21945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Gestionado por Google. Soporta millones de mensajes/segundo sin provisionar infraestructura.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En People Analytics: recibir eventos HR (altas, bajas, cambios) sin acoplar Personio al pipeline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Arquitectura de Pub/Sub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Un topic, N subscriptions. Cada subscriber recibe todos los mensajes de forma independiente.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1371600" y="1371600"/>
            <a:ext cx="411480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1005840" y="14173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1005840" y="1417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1554480" y="13716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PUBLISHER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5669280" y="1235000"/>
            <a:ext cx="3200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HRIS, ATS, nómina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1371600" y="2057400"/>
            <a:ext cx="411480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1005840" y="21031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1005840" y="21031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1554480" y="20574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5669280" y="1925000"/>
            <a:ext cx="3200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canal de mensajes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1371600" y="2743200"/>
            <a:ext cx="411480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1005840" y="27889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1005840" y="27889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1554480" y="27432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SUBSCRIPTION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5669280" y="2610000"/>
            <a:ext cx="3200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cada consumidor tiene la suya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1371600" y="3429000"/>
            <a:ext cx="4114800" cy="502920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1005840" y="34747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1005840" y="34747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1554480" y="34290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SUBSCRIBER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5669280" y="3295000"/>
            <a:ext cx="3200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Cloud Function, Dataflow, BQ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Regla: un topic puede alimentar múltiples consumidores simultáneamente (BigQuery, alertas, ML).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Conceptos fundamentales de Pub/Sub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3" name="Google Shape;133;p20"/>
          <p:cNvGraphicFramePr/>
          <p:nvPr/>
        </p:nvGraphicFramePr>
        <p:xfrm>
          <a:off x="54864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{659A4D55-0363-406D-A354-D47B5B8E7130}</a:tableStyleId>
              </a:tblPr>
              <a:tblGrid>
                <a:gridCol w="2011675"/>
                <a:gridCol w="3840475"/>
                <a:gridCol w="21945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Concepto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Analogía cotidiana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Topic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Canal donde se publican mensajes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Tablón de anuncios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Subscription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Conexión de un consumidor a un topic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Suscripción al tablón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Message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Unidad de datos enviada (hasta 10 MB)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Nota pegada en el tablón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Ack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Confirmación de recepción del mensaje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Marcar como leído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Dead letter topic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Topic para mensajes que fallan repetidamente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Bandeja de errores a revisar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p20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En el notebook: crearás el topic hr-events y una subscription pull para consumir eventos derivados de Personio.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Pull vs Push vs BigQuery Subscription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365760" y="1051560"/>
            <a:ext cx="1097280" cy="59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365760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Pull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1463040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1572768" y="1051560"/>
            <a:ext cx="1097280" cy="5943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1572768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Push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2670048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2779776" y="1051560"/>
            <a:ext cx="1097280" cy="59436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2779776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BQ Sub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3877056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3986784" y="1051560"/>
            <a:ext cx="1097280" cy="59436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3986784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Batch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5084064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5193792" y="1051560"/>
            <a:ext cx="1097280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5193792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Real-time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6291072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6400800" y="1051560"/>
            <a:ext cx="109728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6400800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Low-code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7498080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7607808" y="1051560"/>
            <a:ext cx="1097280" cy="5943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7607808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Gestion.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365760" y="1783080"/>
            <a:ext cx="841248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548640" y="17830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0" i="1" lang="es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Pull: tú decides el ritmo · Push: Pub/Sub empuja a un HTTP · BQ Sub: escribe directo sin código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Georgia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Garantías de entrega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548640" y="2834640"/>
            <a:ext cx="73152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548640" y="283464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731520" y="28529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At-least-once</a:t>
            </a:r>
            <a:endParaRPr b="0" i="0" sz="10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731520" y="312724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Por defecto. El mensaje se entrega al menos una vez. Puede haber duplicados.</a:t>
            </a:r>
            <a:endParaRPr b="0" i="0" sz="9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3383280" y="2834640"/>
            <a:ext cx="73152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3383280" y="283464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3566160" y="28529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Exactly-once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3566160" y="312724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enable_exactly_once_delivery=True. Sin duplicados pero mayor latencia.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6217920" y="2834640"/>
            <a:ext cx="73152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6217920" y="283464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6400800" y="28529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Ack deadline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6400800" y="312724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Tiempo que tiene el subscriber para procesar antes de reenviar (por defecto 10s).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548640" y="3611880"/>
            <a:ext cx="73152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548640" y="361188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731520" y="36301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Dead letter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731520" y="39044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Tras N intentos fallidos, el mensaje va a un topic DLQ para inspección manual.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3383280" y="3611880"/>
            <a:ext cx="73152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3383280" y="361188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3566160" y="36301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Retry policy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3566160" y="39044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Backoff exponencial entre reintentos. Min 10s, max 600s por defecto.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6217920" y="3611880"/>
            <a:ext cx="73152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6217920" y="361188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6400800" y="36301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6400800" y="39044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Validación Avro/Protobuf del mensaje en el propio topic.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6000"/>
              <a:buFont typeface="Georgia"/>
              <a:buNone/>
            </a:pPr>
            <a:r>
              <a:rPr b="1" i="0" lang="es" sz="6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Integración con APIs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sistemas corporativos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Patrones de integración con sistemas HR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548640" y="960120"/>
            <a:ext cx="3931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548640" y="960120"/>
            <a:ext cx="3931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731520" y="1097280"/>
            <a:ext cx="3566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Polling: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API polling: script que llama a la API periódicamente (diaria/horaria). Caso típico: Personio API nocturna.</a:t>
            </a:r>
            <a:br>
              <a:rPr b="0" i="0" lang="e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Webhook: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Webhook: el sistema externo llama a nuestro endpoint cuando ocurre un evento. Caso: ATS notifica nueva contratación.</a:t>
            </a:r>
            <a:br>
              <a:rPr b="0" i="0" lang="e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Files: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File drop: el sistema deposita un archivo en GCS/SFTP. Caso: export diario de Personio a gs://*-datalake/personio/raw/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4663440" y="960120"/>
            <a:ext cx="3931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4663440" y="960120"/>
            <a:ext cx="3931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4846320" y="10789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4846320" y="1371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600"/>
              <a:buFont typeface="Georgia"/>
              <a:buNone/>
            </a:pPr>
            <a:r>
              <a:rPr b="1" i="0" lang="es" sz="24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s" sz="16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 en 1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5668330" y="1431033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4 patrones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4846320" y="18745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Clave: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File drop + API polling cubren el 90% de PA.</a:t>
            </a:r>
            <a:br>
              <a:rPr b="0" i="0" lang="e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Webhooks solo para eventos en tiempo real (altas, bajas urgentes).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548665" y="2832610"/>
            <a:ext cx="8046600" cy="5487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731520" y="283261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⚠ Tip: </a:t>
            </a:r>
            <a:r>
              <a:rPr b="0" i="0" lang="es" sz="11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En el caso real del cliente: Personio exporta diariamente a GCS (file drop) + API polling para datos maestros.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Integración con Personio (API REST)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Patrón: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API polling diario con autenticación OAuth + Secret Manager  |  </a:t>
            </a: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Enfoque: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Credenciales en Secret Manager, reintentos automáticos  |  </a:t>
            </a: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Stack: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requests + Secret Manager + Cloud Storage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548640" y="141732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548640" y="1417320"/>
            <a:ext cx="26974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🗓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685800" y="20574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1. Autenticar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685800" y="242316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POST a /v1/auth con client_id + client_secret desde Secret Manager. Token válido 24h.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3429000" y="141732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3429000" y="1417320"/>
            <a:ext cx="2697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356616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👤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3566160" y="20574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2. Extraer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3566160" y="242316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GET a /v1/company/employees con paginación (limit=200, offset). Loop hasta fin.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6309360" y="141732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6309360" y="1417320"/>
            <a:ext cx="26974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644652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6446520" y="20574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3. Aterrizar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6446520" y="242316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JSON a gs://*-datalake/personio/raw/YYYY-MM-DD/employees.json. Bronze layer sin transformar.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rPr>
              <a:t>Regla: NUNCA hardcodear credenciales. Siempre Secret Manager. Loguear cada página con structured logging.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Webhooks: el ATS nos llama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48640" y="96012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48640" y="960120"/>
            <a:ext cx="39319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731520" y="10972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Flujo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731520" y="141732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Fuente: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1. Greenhouse (ATS) detecta un evento (nueva contratación)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br>
              <a:rPr b="0" i="0" lang="e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Endpoint: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2. Llama a nuestra Cloud Function HTTP con el payload del evento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br>
              <a:rPr b="0" i="0" lang="e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Acción: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3. Verificamos firma HMAC-SHA256 y publicamos en Pub/Sub ats-events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4663440" y="96012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4663440" y="960120"/>
            <a:ext cx="39319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4846320" y="10972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4846320" y="1417320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HMAC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firma compartida con el ATS para autenticar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Secret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Manager guarda el secret del webhook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b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Sin verificación, cualquiera podría lanzar eventos falsos a nuestro sistema.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0" i="1" lang="es" sz="12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Patrón: webhook → Cloud Function (valida) → Pub/Sub (desacopla) → procesadores.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Mapa de integraciones típico en PA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548640" y="960120"/>
            <a:ext cx="5029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548640" y="960120"/>
            <a:ext cx="5029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731533" y="1338430"/>
            <a:ext cx="46635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Regla: </a:t>
            </a: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HRIS es la fuente de verdad · payroll cruza por employee_code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Fuentes: </a:t>
            </a: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Personio (API) · Greenhouse (webhook) · nómina (SFTP) · Forms (API)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Aterrizaje: </a:t>
            </a: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Todo aterriza en GCS landing zone por fuente: /personio/raw/ /ats/raw/ /payroll/raw/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Proceso: </a:t>
            </a: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Bronze → Silver → Gold con Dataform (se verá en el Módulo 8).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5852160" y="1051560"/>
            <a:ext cx="27432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5852160" y="10515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HRIS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Personio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5852160" y="1691640"/>
            <a:ext cx="27432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5852160" y="16916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Greenhouse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5852160" y="2331720"/>
            <a:ext cx="274320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5852160" y="23317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Otros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5852160" y="777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Cada fuente, su integración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Reglas de oro de la integración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1" name="Google Shape;281;p27"/>
          <p:cNvGraphicFramePr/>
          <p:nvPr/>
        </p:nvGraphicFramePr>
        <p:xfrm>
          <a:off x="54864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{659A4D55-0363-406D-A354-D47B5B8E7130}</a:tableStyleId>
              </a:tblPr>
              <a:tblGrid>
                <a:gridCol w="2560325"/>
                <a:gridCol w="54864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Regla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Por qué importa en People Analytics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HRIS es fuente de verdad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dim_employee se construye SIEMPRE desde Personio. Nunca inventar o reconciliar desde otras fuentes.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employee_code es la clave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Payroll, encuestas y fichajes deben unirse por employee_code. Si falta, la fila no se integra.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Credenciales en Secret Manager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NUNCA en código, .env de producción o variables de entorno. Rotación trimestral.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Idempotencia obligatoria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Reejecutar el mismo archivo NO debe crear duplicados. Usar MERGE o DELETE-INSERT por partición.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Logs estructurados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JSON con fuente, timestamp, filas procesadas, errores. Cloud Logging indexa y alerta.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SLA documentado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Cada integración tiene dueño, frecuencia esperada y umbrales de alerta (latencia, fallos).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282" name="Google Shape;282;p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8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Frecuencia de eventos HR típica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9" name="Google Shape;289;p28"/>
          <p:cNvGraphicFramePr/>
          <p:nvPr/>
        </p:nvGraphicFramePr>
        <p:xfrm>
          <a:off x="54864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{659A4D55-0363-406D-A354-D47B5B8E7130}</a:tableStyleId>
              </a:tblPr>
              <a:tblGrid>
                <a:gridCol w="1463050"/>
                <a:gridCol w="2194550"/>
                <a:gridCol w="2194550"/>
                <a:gridCol w="21945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Esporádico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Mensual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Tiempo real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Ejemplo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Nueva alta, baja voluntaria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Nómina, revisión salarial, campañas clima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Fichajes, accesos, tickets IT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Fuente típica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Webhook HRIS (Personio) o ATS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Export batch del HRIS o del proveedor de nómina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Slots ociosos si cae el uso volumen recurrente, SLA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Patrón downstream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Looker Studio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Pub/Sub → Cloud Function → BQ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Cloud Scheduler → Cloud Function → GCS → BQ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Latencia aceptable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10B981"/>
                          </a:solidFill>
                        </a:rPr>
                        <a:t>&lt; 1 minuto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F59E0B"/>
                          </a:solidFill>
                        </a:rPr>
                        <a:t>Horas (batch nocturno)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EF4444"/>
                          </a:solidFill>
                        </a:rPr>
                        <a:t>Segundos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0" name="Google Shape;290;p28"/>
          <p:cNvSpPr/>
          <p:nvPr/>
        </p:nvSpPr>
        <p:spPr>
          <a:xfrm>
            <a:off x="548640" y="3474720"/>
            <a:ext cx="8046720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731520" y="347472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Para el cliente: la mayoría de eventos HR son mensuales o diarios. El tiempo real solo se justifica en fichajes con detección de anomalías.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6000"/>
              <a:buFont typeface="Georgia"/>
              <a:buNone/>
            </a:pPr>
            <a:r>
              <a:rPr b="1" i="0" lang="es" sz="6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ingestión en tiempo real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Streaming vs Batch: conceptos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6" name="Google Shape;306;p30"/>
          <p:cNvGraphicFramePr/>
          <p:nvPr/>
        </p:nvGraphicFramePr>
        <p:xfrm>
          <a:off x="54864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{659A4D55-0363-406D-A354-D47B5B8E7130}</a:tableStyleId>
              </a:tblPr>
              <a:tblGrid>
                <a:gridCol w="1280150"/>
                <a:gridCol w="2377450"/>
                <a:gridCol w="43891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Aspecto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Batch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Streaming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B82F6"/>
                          </a:solidFill>
                        </a:rPr>
                        <a:t>Latencia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Horas (ETL diario/semanal)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Segundos a minutos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B82F6"/>
                          </a:solidFill>
                        </a:rPr>
                        <a:t>Tamaño del bloque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Archivos enteros (CSV, Parquet)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Mensaje individual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B82F6"/>
                          </a:solidFill>
                        </a:rPr>
                        <a:t>Complejidad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Baja (Cloud Functions + GCS + BQ)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Alta (Pub/Sub + Dataflow + BQ)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EF4444"/>
                          </a:solidFill>
                        </a:rPr>
                        <a:t>Coste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03030"/>
                          </a:solidFill>
                        </a:rPr>
                        <a:t>$10-50/mes (funciones esporádicas)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EF4444"/>
                          </a:solidFill>
                        </a:rPr>
                        <a:t>$100-500/mes (workers 24/7)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B82F6"/>
                          </a:solidFill>
                        </a:rPr>
                        <a:t>Cuándo usar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03030"/>
                          </a:solidFill>
                        </a:rPr>
                        <a:t>Dashboards diarios, ETL mensual, informes </a:t>
                      </a: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Alertas en tiempo real, detección de anomalías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90% de People Analytics es batch. Streaming solo con caso de negocio claro.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" name="Google Shape;307;p30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0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La mayoría de equipos de PA vive con ETL diario. No hay penalización.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Tres opciones para streaming a BigQuery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548640" y="1051560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1"/>
          <p:cNvSpPr/>
          <p:nvPr/>
        </p:nvSpPr>
        <p:spPr>
          <a:xfrm>
            <a:off x="548640" y="1051560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731520" y="1051560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BigQuery Subscription: 1 comando, sin código intermedio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548640" y="1709928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1"/>
          <p:cNvSpPr/>
          <p:nvPr/>
        </p:nvSpPr>
        <p:spPr>
          <a:xfrm>
            <a:off x="548640" y="1709928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1"/>
          <p:cNvSpPr/>
          <p:nvPr/>
        </p:nvSpPr>
        <p:spPr>
          <a:xfrm>
            <a:off x="731520" y="1709928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Cloud Function (push): ~30s latencia, permite transformación ligera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548640" y="2368296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1"/>
          <p:cNvSpPr/>
          <p:nvPr/>
        </p:nvSpPr>
        <p:spPr>
          <a:xfrm>
            <a:off x="548640" y="2368296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731520" y="2368296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Dataflow (Beam): &lt; 5s latencia, ventanas y agregaciones, escala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548640" y="3026664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1"/>
          <p:cNvSpPr/>
          <p:nvPr/>
        </p:nvSpPr>
        <p:spPr>
          <a:xfrm>
            <a:off x="548640" y="3026664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731520" y="3026664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BQ Sub: coste ~$0 (paga el publisher), sin servidor que mantener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4754880" y="1051560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1"/>
          <p:cNvSpPr/>
          <p:nvPr/>
        </p:nvSpPr>
        <p:spPr>
          <a:xfrm>
            <a:off x="4754880" y="1051560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4937760" y="1051560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Cloud Function: paga por invocación, límite 9 min de ejecución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4754880" y="1709928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4754880" y="1709928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4937760" y="1709928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Dataflow: $150-300/mes mínimo (workers siempre activos)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4754880" y="2368296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4754880" y="2368296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1"/>
          <p:cNvSpPr/>
          <p:nvPr/>
        </p:nvSpPr>
        <p:spPr>
          <a:xfrm>
            <a:off x="4937760" y="2368296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Regla: empezar por BQ Subscription · subir solo si es insuficiente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1"/>
          <p:cNvSpPr/>
          <p:nvPr/>
        </p:nvSpPr>
        <p:spPr>
          <a:xfrm>
            <a:off x="4754880" y="3026664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1"/>
          <p:cNvSpPr/>
          <p:nvPr/>
        </p:nvSpPr>
        <p:spPr>
          <a:xfrm>
            <a:off x="4754880" y="3026664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1"/>
          <p:cNvSpPr/>
          <p:nvPr/>
        </p:nvSpPr>
        <p:spPr>
          <a:xfrm>
            <a:off x="4937760" y="3026664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Para el caso del cliente: BigQuery Subscription es más que suficiente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1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En el notebook crearás una BQ Subscription hr-events-to-bq que escribe en bronze_personio.events_pubsub.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BQ Subscription · Cloud Function · Dataflow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9" name="Google Shape;349;p32"/>
          <p:cNvGraphicFramePr/>
          <p:nvPr/>
        </p:nvGraphicFramePr>
        <p:xfrm>
          <a:off x="54864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{659A4D55-0363-406D-A354-D47B5B8E7130}</a:tableStyleId>
              </a:tblPr>
              <a:tblGrid>
                <a:gridCol w="1645925"/>
                <a:gridCol w="3200400"/>
                <a:gridCol w="32004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FFFFFF"/>
                          </a:solidFill>
                        </a:rPr>
                        <a:t>Opción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FFFFFF"/>
                          </a:solidFill>
                        </a:rPr>
                        <a:t>Setup y operación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FFFFFF"/>
                          </a:solidFill>
                        </a:rPr>
                        <a:t>Caso ideal en PA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BQ Subscription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1 comando gcloud. Sin servidores. Latencia &lt; 10s.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Eventos HR simples: altas, bajas, cambios (sin transformación)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Cloud Function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Función HTTP con endpoint. Push desde Pub/Sub. Auto-scaling.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Transformación ligera: enriquecer con datos de otra fuente, validar schema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Dataflow (Beam)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Pipeline Apache Beam con workers 24/7. Procesamiento distribuido.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Volumen alto, ventanas temporales, enriquecimiento con datos externos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Recomendación comparado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BQ Sub: ~$0 · Cloud Function: pay-per-call · Dataflow: desde $150/mes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El coste refleja complejidad: simple → gratis, complejo → caro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Coste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Empezar por BQ Sub. Pasar a Cloud Function si necesitas transformar.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Solo Dataflow si el volumen lo justifica (&gt; 10K eventos/día).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0" name="Google Shape;350;p32"/>
          <p:cNvSpPr/>
          <p:nvPr/>
        </p:nvSpPr>
        <p:spPr>
          <a:xfrm>
            <a:off x="548640" y="3291840"/>
            <a:ext cx="8046720" cy="640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2"/>
          <p:cNvSpPr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Detectar en Vertex AI: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Regla: la sofisticación debe seguir al volumen, no anticiparlo.</a:t>
            </a:r>
            <a:br>
              <a:rPr b="0" i="0" lang="e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Dataflow está sobredimensionado para el 90% de PA. BQ Subscription cubre lo esencial.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¿Cuándo streaming en People Analytics?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3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0" i="1" lang="es" sz="13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La mayoría de casos en PA son batch. El streaming debe justificarse con valor de negocio.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3"/>
          <p:cNvSpPr/>
          <p:nvPr/>
        </p:nvSpPr>
        <p:spPr>
          <a:xfrm>
            <a:off x="457200" y="137160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3"/>
          <p:cNvSpPr/>
          <p:nvPr/>
        </p:nvSpPr>
        <p:spPr>
          <a:xfrm>
            <a:off x="457200" y="137160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3"/>
          <p:cNvSpPr/>
          <p:nvPr/>
        </p:nvSpPr>
        <p:spPr>
          <a:xfrm>
            <a:off x="45720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🔍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59436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Fichajes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594360" y="274320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SÍ streaming: detección de anomalías y fraude requiere respuesta inmediata.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2468880" y="210312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2651760" y="137160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2651760" y="1371600"/>
            <a:ext cx="20116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265176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278892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Bajas inesperadas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2788920" y="274320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SÍ streaming: RRHH necesita actuar el mismo día (contraoferta, retención).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4663440" y="210312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4846320" y="137160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4846320" y="137160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484632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498348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Onboarding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4983480" y="274320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SÍ streaming: nueva alta dispara provisionamiento de accesos y equipo.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6858000" y="210312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7040880" y="137160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7040880" y="137160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3"/>
          <p:cNvSpPr/>
          <p:nvPr/>
        </p:nvSpPr>
        <p:spPr>
          <a:xfrm>
            <a:off x="704088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🏛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3"/>
          <p:cNvSpPr/>
          <p:nvPr/>
        </p:nvSpPr>
        <p:spPr>
          <a:xfrm>
            <a:off x="717804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Dashboards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7178040" y="274320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NO streaming: refresh diario es más que suficiente. Nadie mira a las 3am.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731520" y="411480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Regla: si el negocio no actúa en &lt; 1 hora, no necesitas streaming. Ahorras $200/mes.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4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6000"/>
              <a:buFont typeface="Georgia"/>
              <a:buNone/>
            </a:pPr>
            <a:r>
              <a:rPr b="1" i="0" lang="es" sz="6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Costes y complejidad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streaming vs batch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5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Dimensiones: batch vs streaming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9" name="Google Shape;399;p35"/>
          <p:cNvGraphicFramePr/>
          <p:nvPr/>
        </p:nvGraphicFramePr>
        <p:xfrm>
          <a:off x="54864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{659A4D55-0363-406D-A354-D47B5B8E7130}</a:tableStyleId>
              </a:tblPr>
              <a:tblGrid>
                <a:gridCol w="2194550"/>
                <a:gridCol w="3108950"/>
                <a:gridCol w="27432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Dimensión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Batch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Streaming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Latencia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Horas (ETL diario)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Segundos a minutos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Infraestructura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$10-50/mes (funciones esporádicas)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$100-500/mes (Dataflow workers 24/7)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065F46"/>
                          </a:solidFill>
                        </a:rPr>
                        <a:t>Mantenimiento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065F46"/>
                          </a:solidFill>
                        </a:rPr>
                        <a:t>Bajo: scripts simples, logs claros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065F46"/>
                          </a:solidFill>
                        </a:rPr>
                        <a:t>Alto: backpressure, lag, errores distribuidos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Equipo requerido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1 ingeniero de datos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2-3 ingenieros con experiencia en streaming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0" name="Google Shape;400;p35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5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Regla: streaming no es "mejor", es diferente. El coste real es operativo, no solo de infraestructura.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6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Coste mensual estimado para PA (~200-2K empleados)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457200" y="1005840"/>
            <a:ext cx="822960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6"/>
          <p:cNvSpPr/>
          <p:nvPr/>
        </p:nvSpPr>
        <p:spPr>
          <a:xfrm>
            <a:off x="548640" y="100584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6"/>
          <p:cNvSpPr/>
          <p:nvPr/>
        </p:nvSpPr>
        <p:spPr>
          <a:xfrm>
            <a:off x="1097280" y="1005840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BATCH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6"/>
          <p:cNvSpPr/>
          <p:nvPr/>
        </p:nvSpPr>
        <p:spPr>
          <a:xfrm>
            <a:off x="3474720" y="1005840"/>
            <a:ext cx="5029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~$45-70/mes · suficiente para el 90% de equipos de PA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6"/>
          <p:cNvSpPr/>
          <p:nvPr/>
        </p:nvSpPr>
        <p:spPr>
          <a:xfrm>
            <a:off x="457200" y="1719072"/>
            <a:ext cx="7772400" cy="566928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548640" y="17190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6"/>
          <p:cNvSpPr/>
          <p:nvPr/>
        </p:nvSpPr>
        <p:spPr>
          <a:xfrm>
            <a:off x="1097280" y="1719072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STREAMING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6"/>
          <p:cNvSpPr/>
          <p:nvPr/>
        </p:nvSpPr>
        <p:spPr>
          <a:xfrm>
            <a:off x="3474720" y="1719072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~$200-385/mes · Dataflow workers son el grueso del coste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6"/>
          <p:cNvSpPr/>
          <p:nvPr/>
        </p:nvSpPr>
        <p:spPr>
          <a:xfrm>
            <a:off x="457200" y="2432304"/>
            <a:ext cx="7315200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6"/>
          <p:cNvSpPr/>
          <p:nvPr/>
        </p:nvSpPr>
        <p:spPr>
          <a:xfrm>
            <a:off x="548640" y="2432304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6"/>
          <p:cNvSpPr/>
          <p:nvPr/>
        </p:nvSpPr>
        <p:spPr>
          <a:xfrm>
            <a:off x="1097280" y="2432304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6"/>
          <p:cNvSpPr/>
          <p:nvPr/>
        </p:nvSpPr>
        <p:spPr>
          <a:xfrm>
            <a:off x="3474720" y="2432304"/>
            <a:ext cx="4114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Functions: $5/mes · igual en ambas arquitecturas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6"/>
          <p:cNvSpPr/>
          <p:nvPr/>
        </p:nvSpPr>
        <p:spPr>
          <a:xfrm>
            <a:off x="457200" y="3145536"/>
            <a:ext cx="68580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548640" y="314553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6"/>
          <p:cNvSpPr/>
          <p:nvPr/>
        </p:nvSpPr>
        <p:spPr>
          <a:xfrm>
            <a:off x="1097280" y="3145536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6"/>
          <p:cNvSpPr/>
          <p:nvPr/>
        </p:nvSpPr>
        <p:spPr>
          <a:xfrm>
            <a:off x="3474720" y="3145536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Queries + storage: $35-60/mes · independiente del patrón de ingesta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6"/>
          <p:cNvSpPr/>
          <p:nvPr/>
        </p:nvSpPr>
        <p:spPr>
          <a:xfrm>
            <a:off x="457200" y="3858768"/>
            <a:ext cx="6400800" cy="566928"/>
          </a:xfrm>
          <a:prstGeom prst="rect">
            <a:avLst/>
          </a:prstGeom>
          <a:solidFill>
            <a:srgbClr val="6B7280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548640" y="385876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6"/>
          <p:cNvSpPr/>
          <p:nvPr/>
        </p:nvSpPr>
        <p:spPr>
          <a:xfrm>
            <a:off x="1097280" y="3858768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DATAFLOW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6"/>
          <p:cNvSpPr/>
          <p:nvPr/>
        </p:nvSpPr>
        <p:spPr>
          <a:xfrm>
            <a:off x="3474720" y="3858768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$150-300/mes · SOLO en streaming · el verdadero salto de coste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1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La diferencia de $150-300/mes = 1 día de consultoría mensual de un ingeniero senior.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7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Árbol de decisión: ¿batch o streaming?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7"/>
          <p:cNvSpPr/>
          <p:nvPr/>
        </p:nvSpPr>
        <p:spPr>
          <a:xfrm>
            <a:off x="548640" y="685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PRIMERA PREGUNTA: ¿EL NEGOCIO ACTÚA EN MENOS DE 1 HORA?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7"/>
          <p:cNvSpPr/>
          <p:nvPr/>
        </p:nvSpPr>
        <p:spPr>
          <a:xfrm>
            <a:off x="548640" y="1051560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7"/>
          <p:cNvSpPr/>
          <p:nvPr/>
        </p:nvSpPr>
        <p:spPr>
          <a:xfrm>
            <a:off x="640080" y="105156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1. Si la respuesta es NO → BATCH (Cloud Functions + GCS + BQ)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7"/>
          <p:cNvSpPr/>
          <p:nvPr/>
        </p:nvSpPr>
        <p:spPr>
          <a:xfrm>
            <a:off x="548640" y="1572768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7"/>
          <p:cNvSpPr/>
          <p:nvPr/>
        </p:nvSpPr>
        <p:spPr>
          <a:xfrm>
            <a:off x="640080" y="157276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2. Coste bajo (~$50/mes), mantenimiento simple, cubre el 90% de PA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7"/>
          <p:cNvSpPr/>
          <p:nvPr/>
        </p:nvSpPr>
        <p:spPr>
          <a:xfrm>
            <a:off x="548640" y="2093976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7"/>
          <p:cNvSpPr/>
          <p:nvPr/>
        </p:nvSpPr>
        <p:spPr>
          <a:xfrm>
            <a:off x="640080" y="2093976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3. Si la respuesta es SÍ → segunda pregunta: ¿qué volumen?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7"/>
          <p:cNvSpPr/>
          <p:nvPr/>
        </p:nvSpPr>
        <p:spPr>
          <a:xfrm>
            <a:off x="548640" y="2615184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7"/>
          <p:cNvSpPr/>
          <p:nvPr/>
        </p:nvSpPr>
        <p:spPr>
          <a:xfrm>
            <a:off x="640080" y="2615184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4. Menos de 10K eventos/día → Pub/Sub + BigQuery Subscription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7"/>
          <p:cNvSpPr/>
          <p:nvPr/>
        </p:nvSpPr>
        <p:spPr>
          <a:xfrm>
            <a:off x="548640" y="3136392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7"/>
          <p:cNvSpPr/>
          <p:nvPr/>
        </p:nvSpPr>
        <p:spPr>
          <a:xfrm>
            <a:off x="640080" y="313639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5. Sin código intermedio, escribe directo a BigQuery, coste mínimo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7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7"/>
          <p:cNvSpPr/>
          <p:nvPr/>
        </p:nvSpPr>
        <p:spPr>
          <a:xfrm>
            <a:off x="4846320" y="105156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6. Más de 10K eventos/día → Pub/Sub + Dataflow → BigQuery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7"/>
          <p:cNvSpPr/>
          <p:nvPr/>
        </p:nvSpPr>
        <p:spPr>
          <a:xfrm>
            <a:off x="4754880" y="1572768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7"/>
          <p:cNvSpPr/>
          <p:nvPr/>
        </p:nvSpPr>
        <p:spPr>
          <a:xfrm>
            <a:off x="4846320" y="157276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7. Solo Dataflow si hay ROI demostrable (&gt; $300/mes en valor de negocio)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7"/>
          <p:cNvSpPr/>
          <p:nvPr/>
        </p:nvSpPr>
        <p:spPr>
          <a:xfrm>
            <a:off x="4754880" y="2093976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7"/>
          <p:cNvSpPr/>
          <p:nvPr/>
        </p:nvSpPr>
        <p:spPr>
          <a:xfrm>
            <a:off x="4846320" y="2093976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8. Para el cliente (209 empleados): BATCH es la elección obvia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7"/>
          <p:cNvSpPr/>
          <p:nvPr/>
        </p:nvSpPr>
        <p:spPr>
          <a:xfrm>
            <a:off x="4754880" y="2615184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7"/>
          <p:cNvSpPr/>
          <p:nvPr/>
        </p:nvSpPr>
        <p:spPr>
          <a:xfrm>
            <a:off x="4846320" y="2615184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9. Mini-batch event-driven para excepciones (ver Módulo 4)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7"/>
          <p:cNvSpPr/>
          <p:nvPr/>
        </p:nvSpPr>
        <p:spPr>
          <a:xfrm>
            <a:off x="4754880" y="3136392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7"/>
          <p:cNvSpPr/>
          <p:nvPr/>
        </p:nvSpPr>
        <p:spPr>
          <a:xfrm>
            <a:off x="4846320" y="313639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10. Añadir streaming solo cuando el batch deje de cumplir SLA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7"/>
          <p:cNvSpPr/>
          <p:nvPr/>
        </p:nvSpPr>
        <p:spPr>
          <a:xfrm>
            <a:off x="548640" y="3840480"/>
            <a:ext cx="1965960" cy="4572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7"/>
          <p:cNvSpPr/>
          <p:nvPr/>
        </p:nvSpPr>
        <p:spPr>
          <a:xfrm>
            <a:off x="54864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¿&lt; 1h?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7"/>
          <p:cNvSpPr/>
          <p:nvPr/>
        </p:nvSpPr>
        <p:spPr>
          <a:xfrm>
            <a:off x="2697480" y="3840480"/>
            <a:ext cx="19659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7"/>
          <p:cNvSpPr/>
          <p:nvPr/>
        </p:nvSpPr>
        <p:spPr>
          <a:xfrm>
            <a:off x="269748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¿Volumen?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7"/>
          <p:cNvSpPr/>
          <p:nvPr/>
        </p:nvSpPr>
        <p:spPr>
          <a:xfrm>
            <a:off x="4846320" y="3840480"/>
            <a:ext cx="196596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7"/>
          <p:cNvSpPr/>
          <p:nvPr/>
        </p:nvSpPr>
        <p:spPr>
          <a:xfrm>
            <a:off x="484632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Batch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7"/>
          <p:cNvSpPr/>
          <p:nvPr/>
        </p:nvSpPr>
        <p:spPr>
          <a:xfrm>
            <a:off x="6995160" y="3840480"/>
            <a:ext cx="196596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7"/>
          <p:cNvSpPr/>
          <p:nvPr/>
        </p:nvSpPr>
        <p:spPr>
          <a:xfrm>
            <a:off x="699516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Stream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8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Ideas clave del módulo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8"/>
          <p:cNvSpPr/>
          <p:nvPr/>
        </p:nvSpPr>
        <p:spPr>
          <a:xfrm>
            <a:off x="548640" y="1051560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8"/>
          <p:cNvSpPr/>
          <p:nvPr/>
        </p:nvSpPr>
        <p:spPr>
          <a:xfrm>
            <a:off x="548640" y="1051560"/>
            <a:ext cx="73152" cy="5669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8"/>
          <p:cNvSpPr/>
          <p:nvPr/>
        </p:nvSpPr>
        <p:spPr>
          <a:xfrm>
            <a:off x="777240" y="1051560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8"/>
          <p:cNvSpPr/>
          <p:nvPr/>
        </p:nvSpPr>
        <p:spPr>
          <a:xfrm>
            <a:off x="1463040" y="1051560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Pub/Sub desacopla productores y consumidores: base de la ingesta moderna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8"/>
          <p:cNvSpPr/>
          <p:nvPr/>
        </p:nvSpPr>
        <p:spPr>
          <a:xfrm>
            <a:off x="548640" y="1764792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8"/>
          <p:cNvSpPr/>
          <p:nvPr/>
        </p:nvSpPr>
        <p:spPr>
          <a:xfrm>
            <a:off x="548640" y="1764792"/>
            <a:ext cx="73152" cy="5669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8"/>
          <p:cNvSpPr/>
          <p:nvPr/>
        </p:nvSpPr>
        <p:spPr>
          <a:xfrm>
            <a:off x="777240" y="1764792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8"/>
          <p:cNvSpPr/>
          <p:nvPr/>
        </p:nvSpPr>
        <p:spPr>
          <a:xfrm>
            <a:off x="1463040" y="1764792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4 patrones de integración: API polling, webhook, file drop, CDC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8"/>
          <p:cNvSpPr/>
          <p:nvPr/>
        </p:nvSpPr>
        <p:spPr>
          <a:xfrm>
            <a:off x="548640" y="2478024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8"/>
          <p:cNvSpPr/>
          <p:nvPr/>
        </p:nvSpPr>
        <p:spPr>
          <a:xfrm>
            <a:off x="548640" y="2478024"/>
            <a:ext cx="73152" cy="5669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8"/>
          <p:cNvSpPr/>
          <p:nvPr/>
        </p:nvSpPr>
        <p:spPr>
          <a:xfrm>
            <a:off x="777240" y="2478024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8"/>
          <p:cNvSpPr/>
          <p:nvPr/>
        </p:nvSpPr>
        <p:spPr>
          <a:xfrm>
            <a:off x="1463040" y="2478024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Credenciales en Secret Manager, idempotencia, logs estructurados: no negociables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8"/>
          <p:cNvSpPr/>
          <p:nvPr/>
        </p:nvSpPr>
        <p:spPr>
          <a:xfrm>
            <a:off x="548640" y="3191256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8"/>
          <p:cNvSpPr/>
          <p:nvPr/>
        </p:nvSpPr>
        <p:spPr>
          <a:xfrm>
            <a:off x="548640" y="3191256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8"/>
          <p:cNvSpPr/>
          <p:nvPr/>
        </p:nvSpPr>
        <p:spPr>
          <a:xfrm>
            <a:off x="777240" y="3191256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8"/>
          <p:cNvSpPr/>
          <p:nvPr/>
        </p:nvSpPr>
        <p:spPr>
          <a:xfrm>
            <a:off x="1463040" y="3191256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El 90% de People Analytics es batch. Streaming solo con caso de negocio claro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8"/>
          <p:cNvSpPr/>
          <p:nvPr/>
        </p:nvSpPr>
        <p:spPr>
          <a:xfrm>
            <a:off x="548640" y="3904488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8"/>
          <p:cNvSpPr/>
          <p:nvPr/>
        </p:nvSpPr>
        <p:spPr>
          <a:xfrm>
            <a:off x="548640" y="3904488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8"/>
          <p:cNvSpPr/>
          <p:nvPr/>
        </p:nvSpPr>
        <p:spPr>
          <a:xfrm>
            <a:off x="777240" y="3904488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8"/>
          <p:cNvSpPr/>
          <p:nvPr/>
        </p:nvSpPr>
        <p:spPr>
          <a:xfrm>
            <a:off x="1463040" y="3904488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BigQuery Subscription es el atajo: streaming sin código para eventos simples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9"/>
          <p:cNvSpPr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Práctica: notebook del Módulo 3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9"/>
          <p:cNvSpPr/>
          <p:nvPr/>
        </p:nvSpPr>
        <p:spPr>
          <a:xfrm>
            <a:off x="914400" y="1828800"/>
            <a:ext cx="6858000" cy="4572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9"/>
          <p:cNvSpPr/>
          <p:nvPr/>
        </p:nvSpPr>
        <p:spPr>
          <a:xfrm>
            <a:off x="1097280" y="182880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Crear topic hr-events y subscription pull con retry + dead letter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9"/>
          <p:cNvSpPr/>
          <p:nvPr/>
        </p:nvSpPr>
        <p:spPr>
          <a:xfrm>
            <a:off x="914400" y="2423160"/>
            <a:ext cx="6858000" cy="4572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39"/>
          <p:cNvSpPr/>
          <p:nvPr/>
        </p:nvSpPr>
        <p:spPr>
          <a:xfrm>
            <a:off x="1097280" y="242316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Publicar eventos HR sintéticos derivados del modelo Personio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9"/>
          <p:cNvSpPr/>
          <p:nvPr/>
        </p:nvSpPr>
        <p:spPr>
          <a:xfrm>
            <a:off x="914400" y="3017520"/>
            <a:ext cx="6858000" cy="4572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9"/>
          <p:cNvSpPr/>
          <p:nvPr/>
        </p:nvSpPr>
        <p:spPr>
          <a:xfrm>
            <a:off x="1097280" y="301752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BigQuery Subscription: escribir eventos directo a bronze_personio.events_pubsub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39"/>
          <p:cNvSpPr/>
          <p:nvPr/>
        </p:nvSpPr>
        <p:spPr>
          <a:xfrm>
            <a:off x="914400" y="3611880"/>
            <a:ext cx="6858000" cy="4572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9"/>
          <p:cNvSpPr/>
          <p:nvPr/>
        </p:nvSpPr>
        <p:spPr>
          <a:xfrm>
            <a:off x="1097280" y="361188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Auditar coste de mensajes vs queries con INFORMATION_SCHEMA · limpieza idempotente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0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Transición al Módulo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0"/>
          <p:cNvSpPr/>
          <p:nvPr/>
        </p:nvSpPr>
        <p:spPr>
          <a:xfrm>
            <a:off x="1371600" y="2103120"/>
            <a:ext cx="6400800" cy="4389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0"/>
          <p:cNvSpPr/>
          <p:nvPr/>
        </p:nvSpPr>
        <p:spPr>
          <a:xfrm>
            <a:off x="1554480" y="2103120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¿Qué sistemas fuente tenéis hoy (HRIS, ATS, nómina, encuestas)?</a:t>
            </a:r>
            <a:endParaRPr b="0" i="0" sz="13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0"/>
          <p:cNvSpPr/>
          <p:nvPr/>
        </p:nvSpPr>
        <p:spPr>
          <a:xfrm>
            <a:off x="1371600" y="2651760"/>
            <a:ext cx="6400800" cy="4389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0"/>
          <p:cNvSpPr/>
          <p:nvPr/>
        </p:nvSpPr>
        <p:spPr>
          <a:xfrm>
            <a:off x="1554480" y="2651760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¿Cómo hacéis hoy la ingesta: API, webhooks, file drop, manual?</a:t>
            </a:r>
            <a:endParaRPr b="0" i="0" sz="13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0"/>
          <p:cNvSpPr/>
          <p:nvPr/>
        </p:nvSpPr>
        <p:spPr>
          <a:xfrm>
            <a:off x="1371600" y="3200400"/>
            <a:ext cx="6400800" cy="4389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0"/>
          <p:cNvSpPr/>
          <p:nvPr/>
        </p:nvSpPr>
        <p:spPr>
          <a:xfrm>
            <a:off x="1554480" y="3200400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¿Tenéis algún caso claro de streaming en vuestra organización?</a:t>
            </a:r>
            <a:endParaRPr b="0" i="0" sz="13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0"/>
          <p:cNvSpPr/>
          <p:nvPr/>
        </p:nvSpPr>
        <p:spPr>
          <a:xfrm>
            <a:off x="1371600" y="3749040"/>
            <a:ext cx="6400800" cy="4389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0"/>
          <p:cNvSpPr/>
          <p:nvPr/>
        </p:nvSpPr>
        <p:spPr>
          <a:xfrm>
            <a:off x="1554480" y="3749040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¿Cómo gestionáis las credenciales de integración hoy?</a:t>
            </a:r>
            <a:endParaRPr b="0" i="0" sz="13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0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1" lang="e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 continuación: Módulo 4 · Pipelines basados en eventos con Eventarc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
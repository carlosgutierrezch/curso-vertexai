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DM Sans Medium"/>
      <p:regular r:id="rId35"/>
      <p:bold r:id="rId36"/>
      <p:italic r:id="rId37"/>
      <p:boldItalic r:id="rId38"/>
    </p:embeddedFont>
    <p:embeddedFont>
      <p:font typeface="DM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hyt9vGKuYj9dXLOBDAIsjHs0q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FBB70A-2805-4887-ADBE-F9BB229B5CA5}">
  <a:tblStyle styleId="{64FBB70A-2805-4887-ADBE-F9BB229B5C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3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DMSansMedium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DMSansMedium-italic.fntdata"/><Relationship Id="rId14" Type="http://schemas.openxmlformats.org/officeDocument/2006/relationships/slide" Target="slides/slide7.xml"/><Relationship Id="rId36" Type="http://schemas.openxmlformats.org/officeDocument/2006/relationships/font" Target="fonts/DMSansMedium-bold.fntdata"/><Relationship Id="rId17" Type="http://schemas.openxmlformats.org/officeDocument/2006/relationships/slide" Target="slides/slide10.xml"/><Relationship Id="rId39" Type="http://schemas.openxmlformats.org/officeDocument/2006/relationships/font" Target="fonts/DMSans-regular.fntdata"/><Relationship Id="rId16" Type="http://schemas.openxmlformats.org/officeDocument/2006/relationships/slide" Target="slides/slide9.xml"/><Relationship Id="rId38" Type="http://schemas.openxmlformats.org/officeDocument/2006/relationships/font" Target="fonts/DMSansMedium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Abrir con el ejemplo de la empresa que analizó patrones de Slack para predecir rotación. Preguntar a la audiencia si les parece legítimo.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ejercicio interactivo. Pedir a alguien que nombre un dato que recopilan y pasarlo por los 4 filtros juntos.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Enfatizar que el mayor valor de ML (y de Vertex AI) está en datos semiestructurados y comportamentales. Un HRIS da reporting; Vertex AI da predicción.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Recalcar que sin el feedback loop (fase 7), no hay mejora. Muchas organizaciones llegan hasta 'Análisis' y no cierran el ciclo.</a:t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es el caso más común en People Analytics. Detenerse en la trampa del sesgo — si históricamente se van más mujeres post-maternidad, el modelo lo codifica como 'señal'.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cluster 2 es el más interesante — demuestra cómo el dato revela problemas de liderazgo. Manejar con sensibilidad: no es 'culpar al manager' sino entender patrones.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Este caso suele generar debate. El lenguaje que usamos revela sesgos inconscientes. Es un caso perfecto para LLMs.</a:t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Conectar con el caso de Amazon que tuvo que retirar su herramienta de screening de CVs por sesgo de género. Es un caso muy conocido y relevante.</a:t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Pasar rápido pero detenerse en feedback loops y proxy discrimination, que son los menos intuitivos.</a:t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Un dashboard informativo tiene bajo riesgo. Un sistema que recomienda a quién promover debe pasar auditorías de sesgo.</a:t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Detenerse en Art. 22 — un score de Vertex AI NO puede ser la única base para despido o no-promoción.</a:t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Imprimir esto y tenerlo visible en cada proyecto. Es la mejor herramienta anti-riesgo.</a:t>
            </a:r>
            <a:endParaRPr/>
          </a:p>
        </p:txBody>
      </p:sp>
      <p:sp>
        <p:nvSpPr>
          <p:cNvPr id="313" name="Google Shape;313;p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El mensaje clave es que los sesgos no son un error del modelo sino una herencia de los datos. Hay que buscarlos activamente.</a:t>
            </a:r>
            <a:endParaRPr/>
          </a:p>
        </p:txBody>
      </p:sp>
      <p:sp>
        <p:nvSpPr>
          <p:cNvPr id="346" name="Google Shape;346;p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Analogía con seguridad — no pones solo un firewall, pones defensa en profundidad. Con sesgos es igual.</a:t>
            </a:r>
            <a:endParaRPr/>
          </a:p>
        </p:txBody>
      </p:sp>
      <p:sp>
        <p:nvSpPr>
          <p:cNvPr id="356" name="Google Shape;356;p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Preguntar a la audiencia qué modelo tienen y qué problemas encuentran. Suele generar buena discusión.</a:t>
            </a:r>
            <a:endParaRPr/>
          </a:p>
        </p:txBody>
      </p:sp>
      <p:sp>
        <p:nvSpPr>
          <p:cNvPr id="396" name="Google Shape;396;p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Hacer el assessment rápido (10 preguntas sí/no) con la audiencia. Genera autoconciencia y motivación.</a:t>
            </a:r>
            <a:endParaRPr/>
          </a:p>
        </p:txBody>
      </p:sp>
      <p:sp>
        <p:nvSpPr>
          <p:cNvPr id="406" name="Google Shape;406;p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Pedir que levanten la mano por niveles. Normalizar que la mayoría esté en nivel 2-3; el curso está diseñado para subir de nivel.</a:t>
            </a:r>
            <a:endParaRPr/>
          </a:p>
        </p:txBody>
      </p:sp>
      <p:sp>
        <p:nvSpPr>
          <p:cNvPr id="433" name="Google Shape;433;p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0" name="Google Shape;510;p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/>
        </p:nvSpPr>
        <p:spPr>
          <a:xfrm>
            <a:off x="792000" y="1790025"/>
            <a:ext cx="756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Google Cloud Platform y Vertex AI</a:t>
            </a:r>
            <a:r>
              <a:rPr b="0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" sz="240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para Analistas de Datos Avanzados</a:t>
            </a:r>
            <a:endParaRPr b="1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200" y="2621313"/>
            <a:ext cx="815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Carlos Gutiérrez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200" y="2975257"/>
            <a:ext cx="8151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rgbClr val="BBBEBF"/>
                </a:solidFill>
                <a:latin typeface="Arial"/>
                <a:ea typeface="Arial"/>
                <a:cs typeface="Arial"/>
                <a:sym typeface="Arial"/>
              </a:rPr>
              <a:t> Módulo 1 · Contexto Real de Analítica de Datos en People Analytics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7291132" y="120225"/>
            <a:ext cx="1681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Agenda del día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PEOPLE ANALYTICS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" name="Google Shape;67;p2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1097275"/>
                <a:gridCol w="5303525"/>
                <a:gridCol w="16459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Bloque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Tema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s" sz="1200" u="none" cap="none" strike="noStrike">
                          <a:solidFill>
                            <a:srgbClr val="FFFFFF"/>
                          </a:solidFill>
                        </a:rPr>
                        <a:t>T/P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M1 · El dato de personas: qué lo hace diferente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M1 · Casos reales, sesgos y madurez analítica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M2 · Entornos dev/test/prod · Data Lake vs DW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20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M2 · Costes, escalabilidad · BigLake · Analytics Hub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15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Test de conceptos + feedback individual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200"/>
                        <a:buFont typeface="Calibri"/>
                        <a:buNone/>
                      </a:pPr>
                      <a:r>
                        <a:rPr lang="es" sz="1200" u="none" cap="none" strike="noStrike">
                          <a:solidFill>
                            <a:srgbClr val="303030"/>
                          </a:solidFill>
                        </a:rPr>
                        <a:t>30 min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dato de personas: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lo hace diferente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¿Por qué People Analytics es diferente?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1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Un dato de personas NO es un dato más.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55448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152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Sensibilidad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3152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Un registro mal expuesto puede destruir carreras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38328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383280" y="155448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56616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Confidencialidad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56616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Datos que los propios empleados desconocen que se recopilan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0" y="21945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No todo lo legal es ético, no todo lo ético es legal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Tres dimensiones que distinguen los datos de personas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El filtro de 4 capas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Si no pasa los 4 filtros, no se hace.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371600" y="13716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05840" y="14173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05840" y="1417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554480" y="13716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¿Es LEGAL?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108960" y="18288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↓ Sí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371600" y="20574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05840" y="21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554480" y="20574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¿Es ÉTICO?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108960" y="25146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↓ Sí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371600" y="2743200"/>
            <a:ext cx="4114800" cy="502920"/>
          </a:xfrm>
          <a:prstGeom prst="rect">
            <a:avLst/>
          </a:prstGeom>
          <a:solidFill>
            <a:srgbClr val="DBEAFE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05840" y="27889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005840" y="2788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554480" y="2743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¿Es ÚTIL?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108960" y="32004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↓ Sí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371600" y="3429000"/>
            <a:ext cx="4114800" cy="502920"/>
          </a:xfrm>
          <a:prstGeom prst="rect">
            <a:avLst/>
          </a:prstGeom>
          <a:solidFill>
            <a:srgbClr val="D1FAE5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005840" y="34747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05840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554480" y="34290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¿Es ACCIONABLE?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669280" y="340156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→ Adelante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"¿Cómo se sentiría el empleado si supiera exactamente qué estamos haciendo con sus datos?"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Tipologías de datos en RRHH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3" name="Google Shape;133;p6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2011675"/>
                <a:gridCol w="384047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Tipo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Ejemplos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Reto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Estructurados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Salario, antigüedad, departamento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Calidad y actualización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Semiestructurados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Evaluaciones (texto+rating), encuestas, CVs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Normalización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Derivados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Scores de riesgo, índices de engagement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Interpretabilidad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Comportamentales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Patrones de conexión, uso de herramientas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Privacidad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Externos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Benchmarks salariales, mercado laboral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Comparabilidad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p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El HRIS (Personio en nuestro caso) da reporting. El valor analítico se desbloquea cruzando nómina, históricos y señales comportamentales en BigQuery + Vertex AI.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Ciclo de vida del dato en People Analytics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46304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57276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Recopilación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670048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779776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877056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986784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84064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193792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291072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400800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Acción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498080" y="1051560"/>
            <a:ext cx="1097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607808" y="105156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↻ Feedback loop: sin el ciclo completo de revisión, no hay mejora continua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600"/>
              <a:buFont typeface="Georgia"/>
              <a:buNone/>
            </a:pPr>
            <a:r>
              <a:rPr b="1" i="0" lang="es" sz="1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Stack en Google Cloud Platform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2834640"/>
            <a:ext cx="73152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3152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Ingesta</a:t>
            </a:r>
            <a:endParaRPr b="0" i="0" sz="1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3152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Cloud Storage + Pub/Sub + Dataflow</a:t>
            </a:r>
            <a:endParaRPr b="0" i="0" sz="9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383280" y="2834640"/>
            <a:ext cx="73152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38328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56616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56616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Cloud Storage (Data Lake) + BigQuery (Medallion)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217920" y="2834640"/>
            <a:ext cx="73152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217920" y="283464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0" y="28529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Procesamiento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0" y="312724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Dataform + Vertex AI Workbench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361188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3152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3152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BigQuery ML + Vertex AI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383280" y="3611880"/>
            <a:ext cx="73152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8328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56616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Visualización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56616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Looker + Looker Studio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217920" y="3611880"/>
            <a:ext cx="73152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217920" y="3611880"/>
            <a:ext cx="26517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400800" y="36301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800" y="39044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Cloud Logging + Model Monitoring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reales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aplicaciones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1: Predicción de rotación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486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31520" y="1097280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Problema: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Dataset Personio del curso: 209 empleados, 12 países, bandas P1-P3 / E1-E2 / M2-M3</a:t>
            </a: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Datos: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Histórico mensual de salarios, antigüedad, cambios de banda, entidad legal, país, género</a:t>
            </a: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8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Solución: </a:t>
            </a:r>
            <a:r>
              <a:rPr b="0" i="0" lang="es" sz="8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BigQuery ML / Vertex AI AutoML Tabular → clasificación binaria sobre fact_salary_history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4663440" y="9601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846320" y="10789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882095" y="128877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Georgia"/>
              <a:buNone/>
            </a:pPr>
            <a:r>
              <a:rPr b="1" i="0" lang="e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643480" y="1334533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Precisión orientativa (caso-estudio)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882100" y="1341345"/>
            <a:ext cx="3566100" cy="11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Factor #1: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antigüedad en banda y compa-ratio por debajo de 0,90</a:t>
            </a: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Planes de retención proactivos sobre el 40% de empleados identificados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65" y="2832610"/>
            <a:ext cx="8046600" cy="5487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31520" y="2832610"/>
            <a:ext cx="7680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Nota: </a:t>
            </a: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Con 209 empleados la muestra es pequeña: validar siempre con fairness slicing y XAI. Art. 22 GDPR: human-in-the-loop obligatorio.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2: Análisis de absentismo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Problema: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Análisis exploratorio de patrones de absentismo con datos anonimizados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Enfoque: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Clustering + Forecasting  |  </a:t>
            </a: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Herramientas: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Vertex AI Workbench + BigQuery ML + Dataform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8640" y="141732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🗓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8580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Cluster 1: Estacional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8580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Absentismo en puentes y verano. Patrón predecible.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42900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429000" y="141732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5661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👤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56616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Cluster 2: Manager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56616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Absentismo asociado a manager específico. Revela problemas de liderazgo.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309360" y="1417320"/>
            <a:ext cx="26974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309360" y="1417320"/>
            <a:ext cx="2697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44652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446520" y="20574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Cluster 3: Pre-baja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46520" y="2423160"/>
            <a:ext cx="2423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Absentismo crónico como predictor de baja voluntaria.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065F46"/>
                </a:solidFill>
                <a:latin typeface="Arial"/>
                <a:ea typeface="Arial"/>
                <a:cs typeface="Arial"/>
                <a:sym typeface="Arial"/>
              </a:rPr>
              <a:t>Acción: Intervención diferenciada por cluster — no una solución única para todos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3: Evaluación de desempeño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486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48640" y="960120"/>
            <a:ext cx="3931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315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31520" y="141732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Problema: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Sesgo de leniency (todos 4/5) + sesgo de proximidad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Enfoque: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NLP sobre texto de evaluaciones + detección de anomalías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br>
              <a:rPr b="0" i="0" lang="e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Herramienta: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Gemini en Vertex AI para análisis de texto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663440" y="9601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663440" y="96012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846320" y="1097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Hallazgo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846320" y="141732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Lenguaje diferencial: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"brillante"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 para hombres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"colaboradora"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  para mujeres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b="0" i="0" lang="e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texto de la evaluación predecía mejor la promoción futura que el rating numérico.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perfecto para LLMs: el lenguaje revela sesgos inconscientes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Caso 4: Brecha salarial y Compa-Ratio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48640" y="960120"/>
            <a:ext cx="5029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48640" y="96012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31508" y="1143005"/>
            <a:ext cx="4663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Problema: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¿Existe brecha salarial por género controlando por banda y país?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Enfoque: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Compa-ratio por banda/género · ANOVA · k-anonimidad del dataset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Herramienta: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BigQuery + Python (scipy, pandas) · Vertex AI Model Evaluation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Calibri"/>
              <a:buNone/>
            </a:pPr>
            <a:br>
              <a:rPr b="0" i="0" lang="e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9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Hallazgo: </a:t>
            </a:r>
            <a:r>
              <a:rPr b="0" i="0" lang="es" sz="9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En el notebook se cuantifica la brecha salarial real del dataset Personio y se detectan quasi-identificadores que rompen k-anonimidad.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852160" y="1051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Opportunity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85216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Demographic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Parity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5852160" y="23317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Equalized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Odds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5852160" y="777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Métricas de equidad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Riesgos habituales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1" name="Google Shape;281;p13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2560325"/>
                <a:gridCol w="5486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Riesgo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Ejemplo RRHH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Falsa causalidad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"Quienes usan el gym rinden más" (¿o al revés?)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Muestra pequeña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Departamento de 8 personas → sin significancia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Feedback loops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Predices bajo desempeño → inviertes menos → se cumple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Re-identificación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"Mujer, 45-50, legal, Madrid" = una persona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Proxy discrimination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No usas género, pero "tiempo parcial" correlaciona 85%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Survivor bias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Solo analizas empleados actuales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Descriptiva → Predictiva → Prescriptiva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14"/>
          <p:cNvGraphicFramePr/>
          <p:nvPr/>
        </p:nvGraphicFramePr>
        <p:xfrm>
          <a:off x="54864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1463050"/>
                <a:gridCol w="2194550"/>
                <a:gridCol w="2194550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Descriptiva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Predictiva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Prescriptiva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Pregunta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¿Qué pasó?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¿Qué pasará?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¿Qué hacer?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Output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Dashboards, KPIs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Scores, forecasting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Recomendaciones, alertas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En GCP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Looker Studio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BigQuery ML · Vertex AI AutoML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Vertex AI + XAI + human-in-the-loop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Riesgo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10B981"/>
                          </a:solidFill>
                        </a:rPr>
                        <a:t>Bajo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F59E0B"/>
                          </a:solidFill>
                        </a:rPr>
                        <a:t>Medio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EF4444"/>
                          </a:solidFill>
                        </a:rPr>
                        <a:t>Alto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14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31520" y="34747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A mayor prescripción, mayor escrutinio ético y legal. Un dashboard informativo tiene bajo riesgo. Un sistema que recomienda a quién promover debe pasar auditorías de sesgo.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Marco regulatorio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ético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GDPR: Artículos clave para People Analytics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" name="Google Shape;306;p16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1280150"/>
                <a:gridCol w="2377450"/>
                <a:gridCol w="4389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Artículo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Tema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Implicación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Art. 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Principios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Minimización, limitación de finalidad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Art. 6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Base legal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"Interés legítimo"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Art. 9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Datos especiales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Salud, etnia, afiliación → base reforzada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Art. 22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Decisiones automatizadas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EF4444"/>
                          </a:solidFill>
                        </a:rPr>
                        <a:t>Human-in-the-loop OBLIGATORIO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B82F6"/>
                          </a:solidFill>
                        </a:rPr>
                        <a:t>Art. 35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303030"/>
                          </a:solidFill>
                        </a:rPr>
                        <a:t>DPIA </a:t>
                      </a: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(Data Protection Impact Assessment)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Casi todo modelo predictivo sobre empleados la requiere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16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Un score de Vertex AI NO puede ser la única base para despido o no-promoción (Art. 22)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Checklist legal pre-proyecto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54864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54864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73152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¿Base legal para este tratamiento?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54864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54864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73152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¿Categorías especiales? → Base reforzada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54864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54864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73152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¿DPIA realizada?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4864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4864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3152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¿Empleados informados?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754880" y="1051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754880" y="1051560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4937760" y="1051560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¿Decisiones automatizadas? → Human-in-the-loop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4754880" y="170992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754880" y="1709928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937760" y="1709928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¿Minimización de datos cumplida?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754880" y="236829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4754880" y="2368296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937760" y="2368296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¿Política de retención definida?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4754880" y="302666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4754880" y="3026664"/>
            <a:ext cx="73152" cy="5303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4937760" y="3026664"/>
            <a:ext cx="3657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☐  ¿Datos adecuadamente protegidos?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Si no puedes marcar todas → STOP. Primero resolver.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Sesgos algorítmicos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18"/>
          <p:cNvGraphicFramePr/>
          <p:nvPr/>
        </p:nvGraphicFramePr>
        <p:xfrm>
          <a:off x="54864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1645925"/>
                <a:gridCol w="3200400"/>
                <a:gridCol w="32004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Sesgo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Qué 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FFFFFF"/>
                          </a:solidFill>
                        </a:rPr>
                        <a:t>Ejemplo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Histórico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Datos reflejan discriminación pasada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Menos promociones históricas a mujeres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Representación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Grupos infrarrepresentados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Pocos datos de personas con discapacidad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Medición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Variables miden diferente por grupo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"Horas en oficina" penaliza teletrabajo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Agregación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Un modelo para poblaciones heterogéneas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Oficina ≠ fábrica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s" sz="1000" u="none" cap="none" strike="noStrike">
                          <a:solidFill>
                            <a:srgbClr val="1E2A3A"/>
                          </a:solidFill>
                        </a:rPr>
                        <a:t>Evaluación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El criterio de éxito está sesgado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000"/>
                        <a:buFont typeface="Calibri"/>
                        <a:buNone/>
                      </a:pPr>
                      <a:r>
                        <a:rPr lang="es" sz="1000" u="none" cap="none" strike="noStrike">
                          <a:solidFill>
                            <a:srgbClr val="303030"/>
                          </a:solidFill>
                        </a:rPr>
                        <a:t>Ratings de managers sesgados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0" name="Google Shape;350;p18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Detectar en Vertex AI: </a:t>
            </a: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Model Evaluation (fairness slicing) + What-If Tool + Feature Attributions</a:t>
            </a:r>
            <a:br>
              <a:rPr b="0" i="0" lang="e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Los sesgos no son un error del modelo sino una herencia de los datos. Hay que buscarlos activamente.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Mitigación de sesgos: 4 niveles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0" i="1" lang="es" sz="13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No es suficiente con uno solo. Se necesita un enfoque multi-capa.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45720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59436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Pre-procesamiento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59436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Eliminar features sensibles y proxies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246888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265176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278892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In-procesamiento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278892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Regularización por equidad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66344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484632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498348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Post-procesamiento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98348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Ajustar umbrales por grupo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685800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7040880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040880" y="1554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🏛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7178040" y="21945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Organizacional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7178040" y="274320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Comité de ética de datos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Analogía: como la seguridad, no pones solo un firewall — defensa en profundidad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6000"/>
              <a:buFont typeface="Georgia"/>
              <a:buNone/>
            </a:pPr>
            <a:r>
              <a:rPr b="1" i="0" lang="es" sz="6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madurez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400"/>
              <a:buFont typeface="Georgia"/>
              <a:buNone/>
            </a:pPr>
            <a:r>
              <a:rPr b="1" i="0" lang="es" sz="2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Modelos organizativos Data ↔ RRHH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9" name="Google Shape;399;p21"/>
          <p:cNvGraphicFramePr/>
          <p:nvPr/>
        </p:nvGraphicFramePr>
        <p:xfrm>
          <a:off x="54864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{64FBB70A-2805-4887-ADBE-F9BB229B5CA5}</a:tableStyleId>
              </a:tblPr>
              <a:tblGrid>
                <a:gridCol w="2194550"/>
                <a:gridCol w="3108950"/>
                <a:gridCol w="27432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Modelo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FFFFFF"/>
                          </a:solidFill>
                        </a:rPr>
                        <a:t>Mejor para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Centralizado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Data sirve a todos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Organizaciones pequeñas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Embebido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Analistas dentro de RRHH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Velocidad, cercanía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0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Hub &amp; Spoke ★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065F46"/>
                          </a:solidFill>
                        </a:rPr>
                        <a:t>Centro de excelencia + embebidos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065F46"/>
                          </a:solidFill>
                        </a:rPr>
                        <a:t>Balance (RECOMENDADO)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s" sz="1100" u="none" cap="none" strike="noStrike">
                          <a:solidFill>
                            <a:srgbClr val="1E2A3A"/>
                          </a:solidFill>
                        </a:rPr>
                        <a:t>Federado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Plataforma self-service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030"/>
                        </a:buClr>
                        <a:buSzPts val="1100"/>
                        <a:buFont typeface="Calibri"/>
                        <a:buNone/>
                      </a:pPr>
                      <a:r>
                        <a:rPr lang="es" sz="1100" u="none" cap="none" strike="noStrike">
                          <a:solidFill>
                            <a:srgbClr val="303030"/>
                          </a:solidFill>
                        </a:rPr>
                        <a:t>Alta madurez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21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Recomendación: Hub &amp; Spoke con plataforma compartida en GCP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Madurez analítica: 5 niveles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548640" y="10058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1097280" y="1005840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TRANSFORMACIONAL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3474720" y="1005840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ML en producción, MLOps, comité de ética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457200" y="1719072"/>
            <a:ext cx="7772400" cy="566928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548640" y="17190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097280" y="1719072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AVANZADO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3474720" y="17190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Modelos predictivos validados, Medallion en BigQuery, Dataform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457200" y="2432304"/>
            <a:ext cx="7315200" cy="566928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548640" y="24323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097280" y="243230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PROACTIVO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3474720" y="243230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ad-hoc, notebooks en Vertex AI, BigQuery explorado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57200" y="3145536"/>
            <a:ext cx="685800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548640" y="31455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097280" y="314553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REACTIVO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3474720" y="3145536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operativo, Excel, datos en silos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457200" y="3858768"/>
            <a:ext cx="6400800" cy="566928"/>
          </a:xfrm>
          <a:prstGeom prst="rect">
            <a:avLst/>
          </a:prstGeom>
          <a:solidFill>
            <a:srgbClr val="6B7280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548640" y="38587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1097280" y="3858768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OPERACIONAL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3474720" y="385876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Solo nómina y fichajes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1400"/>
              <a:buFont typeface="Calibri"/>
              <a:buNone/>
            </a:pPr>
            <a:r>
              <a:rPr b="1" i="1" lang="es" sz="14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¿Dónde está tu organización?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3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Assessment rápido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548640" y="685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EJERCICIO INTERACTIVO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48640" y="1051560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1. ¿Data warehouse centralizado para RRHH?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548640" y="1572768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64008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2. ¿Cruce de 3+ fuentes?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548640" y="2093976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64008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3. ¿Análisis más allá de reporting mensual?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3"/>
          <p:cNvSpPr/>
          <p:nvPr/>
        </p:nvSpPr>
        <p:spPr>
          <a:xfrm>
            <a:off x="548640" y="2615184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64008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4. ¿Al menos un modelo predictivo en uso?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548640" y="3136392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64008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5. ¿Resultados influyen en decisiones de RRHH?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4846320" y="10515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6. ¿Governance de datos definido?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4754880" y="1572768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4846320" y="15727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7. ¿DPIAs para proyectos analíticos?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4754880" y="2093976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4846320" y="209397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8. ¿Comité de ética de datos?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4754880" y="2615184"/>
            <a:ext cx="39319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4846320" y="2615184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9. ¿Medís impacto post-intervención?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4754880" y="3136392"/>
            <a:ext cx="3931920" cy="41148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4846320" y="3136392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10. ¿MLOps o pipelines automatizados?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54864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0-2 Sí → Nivel 1-2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269748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3-5 Sí → Nivel 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484632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6-8 Sí → Nivel 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6995160" y="38404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9-10 Sí → Nivel 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4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A"/>
              </a:buClr>
              <a:buSzPts val="2600"/>
              <a:buFont typeface="Georgia"/>
              <a:buNone/>
            </a:pPr>
            <a:r>
              <a:rPr b="1" i="0" lang="es" sz="2600" u="none" cap="none" strike="noStrike">
                <a:solidFill>
                  <a:srgbClr val="1E2A3A"/>
                </a:solidFill>
                <a:latin typeface="Arial"/>
                <a:ea typeface="Arial"/>
                <a:cs typeface="Arial"/>
                <a:sym typeface="Arial"/>
              </a:rPr>
              <a:t>Ideas clave del módulo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548640" y="1051560"/>
            <a:ext cx="73152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777240" y="1051560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1463040" y="1051560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Los datos de personas requieren un estándar ético y legal superior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548640" y="1764792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548640" y="1764792"/>
            <a:ext cx="73152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777240" y="1764792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4"/>
          <p:cNvSpPr/>
          <p:nvPr/>
        </p:nvSpPr>
        <p:spPr>
          <a:xfrm>
            <a:off x="1463040" y="1764792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El valor real: combinar datos estructurados con señales débiles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48640" y="2478024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548640" y="2478024"/>
            <a:ext cx="73152" cy="5669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4"/>
          <p:cNvSpPr/>
          <p:nvPr/>
        </p:nvSpPr>
        <p:spPr>
          <a:xfrm>
            <a:off x="777240" y="2478024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4"/>
          <p:cNvSpPr/>
          <p:nvPr/>
        </p:nvSpPr>
        <p:spPr>
          <a:xfrm>
            <a:off x="1463040" y="2478024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GDPR es un framework, no un obstáculo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548640" y="3191256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548640" y="3191256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777240" y="3191256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1463040" y="3191256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Los sesgos son una feature de los datos históricos — hay que buscarlos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548640" y="3904488"/>
            <a:ext cx="80467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548640" y="39044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777240" y="3904488"/>
            <a:ext cx="640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Georgia"/>
              <a:buNone/>
            </a:pPr>
            <a:r>
              <a:rPr b="1" i="0" lang="es" sz="2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1463040" y="3904488"/>
            <a:ext cx="6949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La tecnología es el medio; sin contexto y governance, es ruido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PEOPLE ANALYTICS — Módulo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5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continuación: Módulo 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914400" y="182880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097280" y="182880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Entornos dev/test/prod en GCP · IAM de mínimo privilegio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914400" y="242316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1097280" y="242316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Data Lake vs Data Warehouse · Arquitectura Medallion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5"/>
          <p:cNvSpPr/>
          <p:nvPr/>
        </p:nvSpPr>
        <p:spPr>
          <a:xfrm>
            <a:off x="914400" y="301752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097280" y="301752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BigLake · Analytics Hub · Control de costes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914400" y="3611880"/>
            <a:ext cx="6858000" cy="457200"/>
          </a:xfrm>
          <a:prstGeom prst="rect">
            <a:avLst/>
          </a:prstGeom>
          <a:solidFill>
            <a:srgbClr val="FFFFFF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5"/>
          <p:cNvSpPr/>
          <p:nvPr/>
        </p:nvSpPr>
        <p:spPr>
          <a:xfrm>
            <a:off x="1097280" y="3611880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 Notebook: INFORMATION_SCHEMA, IAM, tablas externas, dev/test/prod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6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0" i="0" lang="es" sz="14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Test de conceptos + feedback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1371600" y="210312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1554480" y="210312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nivel de madurez analítica tenéis en People Analytics hoy?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1371600" y="265176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1554480" y="265176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tipologías de datos de personas gestionáis (HRIS, nómina, encuestas)?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1371600" y="320040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1554480" y="320040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¿Cómo gestionáis el equilibrio insight vs. privacidad y GDPR?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1371600" y="3749040"/>
            <a:ext cx="6400800" cy="4389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1554480" y="3749040"/>
            <a:ext cx="6035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303030"/>
                </a:solidFill>
                <a:latin typeface="Arial"/>
                <a:ea typeface="Arial"/>
                <a:cs typeface="Arial"/>
                <a:sym typeface="Arial"/>
              </a:rPr>
              <a:t>¿Qué caso de uso de los vistos es más accionable en vuestro contexto?</a:t>
            </a:r>
            <a:endParaRPr b="0" i="0" sz="1300" u="none" cap="none" strike="noStrike">
              <a:solidFill>
                <a:srgbClr val="3030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Seguimos con el Módulo 2 · Arquitectura GCP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
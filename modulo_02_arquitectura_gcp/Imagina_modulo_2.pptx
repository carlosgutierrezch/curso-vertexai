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DM Sans Medium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ivOY1bJ2FeUKlHCje5bZJ7OW+Q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D23EA9-6533-4178-A61D-1AB15E976BB6}">
  <a:tblStyle styleId="{96D23EA9-6533-4178-A61D-1AB15E976BB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3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DMSansMedium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DMSansMedium-italic.fntdata"/><Relationship Id="rId14" Type="http://schemas.openxmlformats.org/officeDocument/2006/relationships/slide" Target="slides/slide7.xml"/><Relationship Id="rId36" Type="http://schemas.openxmlformats.org/officeDocument/2006/relationships/font" Target="fonts/DMSansMedium-bold.fntdata"/><Relationship Id="rId17" Type="http://schemas.openxmlformats.org/officeDocument/2006/relationships/slide" Target="slides/slide10.xml"/><Relationship Id="rId39" Type="http://schemas.openxmlformats.org/officeDocument/2006/relationships/font" Target="fonts/DMSans-regular.fntdata"/><Relationship Id="rId16" Type="http://schemas.openxmlformats.org/officeDocument/2006/relationships/slide" Target="slides/slide9.xml"/><Relationship Id="rId38" Type="http://schemas.openxmlformats.org/officeDocument/2006/relationships/font" Target="fonts/DMSansMedium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Abrir con el ejemplo de la empresa que analizó patrones de Slack para predecir rotación. Preguntar a la audiencia si les parece legítimo.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Hacer ejercicio interactivo. Pedir a alguien que nombre un dato que recopilan y pasarlo por los 4 filtros juntos.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Enfatizar que el mayor valor de ML (y de Vertex AI) está en datos semiestructurados y comportamentales. Un HRIS da reporting; Vertex AI da predicción.</a:t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Recalcar que sin el feedback loop (fase 7), no hay mejora. Muchas organizaciones llegan hasta 'Análisis' y no cierran el ciclo.</a:t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Este es el caso más común en People Analytics. Detenerse en la trampa del sesgo — si históricamente se van más mujeres post-maternidad, el modelo lo codifica como 'señal'.</a:t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El cluster 2 es el más interesante — demuestra cómo el dato revela problemas de liderazgo. Manejar con sensibilidad: no es 'culpar al manager' sino entender patrones.</a:t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Este caso suele generar debate. El lenguaje que usamos revela sesgos inconscientes. Es un caso perfecto para LLMs.</a:t>
            </a:r>
            <a:endParaRPr/>
          </a:p>
        </p:txBody>
      </p:sp>
      <p:sp>
        <p:nvSpPr>
          <p:cNvPr id="239" name="Google Shape;239;p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Conectar con el caso de Amazon que tuvo que retirar su herramienta de screening de CVs por sesgo de género. Es un caso muy conocido y relevante.</a:t>
            </a:r>
            <a:endParaRPr/>
          </a:p>
        </p:txBody>
      </p:sp>
      <p:sp>
        <p:nvSpPr>
          <p:cNvPr id="256" name="Google Shape;256;p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Pasar rápido pero detenerse en feedback loops y proxy discrimination, que son los menos intuitivos.</a:t>
            </a:r>
            <a:endParaRPr/>
          </a:p>
        </p:txBody>
      </p:sp>
      <p:sp>
        <p:nvSpPr>
          <p:cNvPr id="273" name="Google Shape;273;p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Un dashboard informativo tiene bajo riesgo. Un sistema que recomienda a quién promover debe pasar auditorías de sesgo.</a:t>
            </a:r>
            <a:endParaRPr/>
          </a:p>
        </p:txBody>
      </p:sp>
      <p:sp>
        <p:nvSpPr>
          <p:cNvPr id="281" name="Google Shape;281;p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Detenerse en Art. 22 — un score de Vertex AI NO puede ser la única base para despido o no-promoción.</a:t>
            </a:r>
            <a:endParaRPr/>
          </a:p>
        </p:txBody>
      </p:sp>
      <p:sp>
        <p:nvSpPr>
          <p:cNvPr id="298" name="Google Shape;298;p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Imprimir esto y tenerlo visible en cada proyecto. Es la mejor herramienta anti-riesgo.</a:t>
            </a:r>
            <a:endParaRPr/>
          </a:p>
        </p:txBody>
      </p:sp>
      <p:sp>
        <p:nvSpPr>
          <p:cNvPr id="308" name="Google Shape;308;p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El mensaje clave es que los sesgos no son un error del modelo sino una herencia de los datos. Hay que buscarlos activamente.</a:t>
            </a:r>
            <a:endParaRPr/>
          </a:p>
        </p:txBody>
      </p:sp>
      <p:sp>
        <p:nvSpPr>
          <p:cNvPr id="341" name="Google Shape;341;p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Analogía con seguridad — no pones solo un firewall, pones defensa en profundidad. Con sesgos es igual.</a:t>
            </a:r>
            <a:endParaRPr/>
          </a:p>
        </p:txBody>
      </p:sp>
      <p:sp>
        <p:nvSpPr>
          <p:cNvPr id="351" name="Google Shape;351;p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Preguntar a la audiencia qué modelo tienen y qué problemas encuentran. Suele generar buena discusión.</a:t>
            </a:r>
            <a:endParaRPr/>
          </a:p>
        </p:txBody>
      </p:sp>
      <p:sp>
        <p:nvSpPr>
          <p:cNvPr id="391" name="Google Shape;391;p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Hacer el assessment rápido (10 preguntas sí/no) con la audiencia. Genera autoconciencia y motivación.</a:t>
            </a:r>
            <a:endParaRPr/>
          </a:p>
        </p:txBody>
      </p:sp>
      <p:sp>
        <p:nvSpPr>
          <p:cNvPr id="401" name="Google Shape;401;p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Pedir que levanten la mano por niveles. Normalizar que la mayoría esté en nivel 2-3; el curso está diseñado para subir de nivel.</a:t>
            </a:r>
            <a:endParaRPr/>
          </a:p>
        </p:txBody>
      </p:sp>
      <p:sp>
        <p:nvSpPr>
          <p:cNvPr id="428" name="Google Shape;428;p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1" name="Google Shape;491;p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p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792000" y="1790025"/>
            <a:ext cx="756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Google Cloud Platform y Vertex AI</a:t>
            </a:r>
            <a:r>
              <a:rPr b="0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para Analistas de Datos Avanzados</a:t>
            </a:r>
            <a:endParaRPr b="1" i="0" sz="2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200" y="2621313"/>
            <a:ext cx="815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Carlos Gutiérrez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200" y="2975257"/>
            <a:ext cx="8151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" sz="105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 Módulo 2 · Arquitectura Actual de Datos en Google Cloud Platform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7291132" y="120225"/>
            <a:ext cx="1681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Agenda del Módulo 2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48640" y="777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PEOPLE ANALYTICS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" name="Google Shape;67;p2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{96D23EA9-6533-4178-A61D-1AB15E976BB6}</a:tableStyleId>
              </a:tblPr>
              <a:tblGrid>
                <a:gridCol w="1097275"/>
                <a:gridCol w="5303525"/>
                <a:gridCol w="1645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Bloque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Tema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T/P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2.1 Entornos dev/test/prod en GCP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2.2 Data Lake vs Data Warehouse + Arquitectura Medallion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15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2.3 Control de costes en arquitecturas analíticas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2.4 Escalabilidad, mantenibilidad e IAM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5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2.5 BigLake · 2.6 Analytics Hub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25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entornos en GCP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Jerarquía de recursos en GCP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1" lang="e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Organización → Carpeta → Proyecto → Recursos. La base de todo lo demás.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864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1554480"/>
            <a:ext cx="24688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3152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Proyecto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3152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Unidad de facturación, permisos y APIs. Todo recurso vive en un proyecto.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38328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383280" y="155448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56616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Carpeta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56616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Agrupa proyectos por dominio (People Analytics, Finanzas, Marketing…).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21792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0080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Organización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40080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Nodo raíz (empresa.com). Políticas y constraints se heredan hacia abajo.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Recomendación mínima: al menos tres proyectos (pa-dev, pa-staging, pa-prod)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Separación dev · staging · prod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GDPR Art. 25 (Data Protection by Design): la separación no es opcional.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371600" y="13716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05840" y="14173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05840" y="1417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554480" y="13716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DEV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669330" y="1371600"/>
            <a:ext cx="320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sintéticos · todo el equipo · continuo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371600" y="20574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005840" y="21031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005840" y="2103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554480" y="20574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STAGING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669330" y="2057400"/>
            <a:ext cx="320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anonimizados · datos + QA · pre-release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371600" y="27432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005840" y="27889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005840" y="27889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554480" y="27432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PROD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669280" y="2788925"/>
            <a:ext cx="320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reales · SA + admins · con aprobación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371600" y="3429000"/>
            <a:ext cx="4114800" cy="502920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005840" y="34747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005840" y="3474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554480" y="34290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SANDBOX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669280" y="3429000"/>
            <a:ext cx="320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sintéticos · libre · sin SLA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Regla de oro: los datos reales de producción NUNCA se copian a dev/staging sin anonimización previa.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Entornos en GCP para People Analytics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" name="Google Shape;133;p6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{96D23EA9-6533-4178-A61D-1AB15E976BB6}</a:tableStyleId>
              </a:tblPr>
              <a:tblGrid>
                <a:gridCol w="2011675"/>
                <a:gridCol w="3840475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Entorno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Propósito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Datos y acceso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dev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Experimentación, desarrollo de features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Sintéticos o anonimizados · todo el equipo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staging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Validación pre-producción, tests de integración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Subconjunto anonimizado · equipo datos + QA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prod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Dashboards reales, modelos en uso, informes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Datos reales · service accounts + admins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sandbox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PoC, pruebas rápidas, formación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Sintéticos · libre acceso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backup / DR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Recuperación ante desastre, archivo histórico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Cifrado · solo admins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6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 el curso: proyecto único con datasets bronze_personio / silver_personio / gold_people_analytics. Labels dev/prod por recurso.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Flujo de promoción entre entornos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65760" y="1051560"/>
            <a:ext cx="1097280" cy="59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65760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Sandbox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463078" y="1051547"/>
            <a:ext cx="419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572768" y="1051560"/>
            <a:ext cx="1097280" cy="594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572706" y="1051585"/>
            <a:ext cx="1097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779776" y="1051560"/>
            <a:ext cx="1097280" cy="59436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779776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 Review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986784" y="1051560"/>
            <a:ext cx="1097280" cy="59436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986784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193792" y="1051560"/>
            <a:ext cx="109728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193792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0" y="1051560"/>
            <a:ext cx="109728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400800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607808" y="1051560"/>
            <a:ext cx="1097280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607808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65760" y="1783080"/>
            <a:ext cx="841248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48640" y="178308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1" lang="e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↻ Cada promoción requiere aprobación humana. Monitor devuelve señal al desarrollo.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Georgia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Componentes GCP por entorno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48640" y="2834640"/>
            <a:ext cx="73152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4864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3152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Identidad</a:t>
            </a:r>
            <a:endParaRPr b="0" i="0" sz="1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3152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IAM · Service Accounts · Secret Manager</a:t>
            </a:r>
            <a:endParaRPr b="0" i="0" sz="9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383280" y="2834640"/>
            <a:ext cx="73152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38328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56616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56616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Cloud Storage + BigQuery (datasets por entorno)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217920" y="2834640"/>
            <a:ext cx="73152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21792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40080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Transformación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40080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Dataform · repos separados por branch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48640" y="3611880"/>
            <a:ext cx="73152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4864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3152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3152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Cloud Build · GitHub Actions · Artifact Registry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383280" y="3611880"/>
            <a:ext cx="73152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38328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56616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Consumo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56616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Looker Studio (dashboards por entorno)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217920" y="3611880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21792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40080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Observabilidad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40080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Cloud Logging · Cloud Monitoring · Alerts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Lake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vs Data Warehouse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Data Lake vs Data Warehouse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48640" y="96012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48640" y="960120"/>
            <a:ext cx="3931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31520" y="1097280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Data Lake: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Cloud Storage · almacena datos crudos en cualquier formato (CSV, JSON, Parquet). Schema-on-read.</a:t>
            </a: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Data Warehouse: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BigQuery · tablas estructuradas con esquema. Schema-on-write. SQL nativo y optimizado.</a:t>
            </a: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Patrón: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Patrón Lakehouse: GCS como landing zone + BigQuery como motor analítico. BigLake los unifica.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663440" y="960120"/>
            <a:ext cx="39318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663440" y="960120"/>
            <a:ext cx="3931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846320" y="10789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846320" y="121615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Georgia"/>
              <a:buNone/>
            </a:pPr>
            <a:r>
              <a:rPr b="1" i="0" lang="e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 en 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636830" y="1261908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Usa ambos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846320" y="1655045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Clave: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Es el patrón recomendado en GCP para People Analytics.</a:t>
            </a: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GCS para datos raw y archivo histórico; BigQuery para análisis y ML.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48665" y="2832610"/>
            <a:ext cx="8046600" cy="5487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31520" y="28326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 Tip: </a:t>
            </a:r>
            <a:r>
              <a:rPr b="0" i="0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Los datos crudos en GCS cumplen Art. 30 GDPR (registro de actividades de tratamiento). BigQuery concentra la explotación analítica.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Arquitectura Medallion en BigQuery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Patrón: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Patrón estándar de capas: Bronze → Silver → Gold  |  </a:t>
            </a: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Enfoque: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Separación de responsabilidades por capa  |  </a:t>
            </a: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Stack: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Cloud Storage + BigQuery + Dataform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4864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48640" y="1417320"/>
            <a:ext cx="2697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🗓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8580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bronze_personio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8580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Datos crudos tal cual llegan del HRIS. raw_employee_data, raw_employee_history, raw_gross_salary.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42900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429000" y="141732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56616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56616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silver_personio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56616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Datos limpios, tipados y normalizados. dim_employee + fact_salary_history + fact_payroll_monthly.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30936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309360" y="1417320"/>
            <a:ext cx="26974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44652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gold_people_analytics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44652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Métricas de negocio listas para consumo. headcount_monthly, compensation_analysis, turnover_metrics.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Join key común: employee_code. Idempotencia vía DELETE-before-INSERT sobre particiones.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Stack GCP para People Analytics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48640" y="9601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48640" y="960120"/>
            <a:ext cx="39319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31520" y="1097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Capas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31520" y="141732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Almacenamiento: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Cloud Storage (Data Lake) + BigQuery (DW)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Transformación: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Dataform (ELT) + Cloud Functions + Dataflow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ML y AI: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Vertex AI + BigQuery ML + Gemini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663440" y="9601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663440" y="96012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846320" y="1097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Gobernanza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846320" y="141732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" sz="9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IAM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mínimo privilegio por rol y recurso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Cloud DLP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detección automática de PII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1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Secret Manager para credenciales, Cloud Audit Logs para trazabilidad de accesos.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Visualización: Looker (LookML, métricas oficiales) + Looker Studio (exploración)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¿Cuándo Cloud Storage y cuándo BigQuery?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48640" y="960120"/>
            <a:ext cx="5029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548640" y="960120"/>
            <a:ext cx="5029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731508" y="1143005"/>
            <a:ext cx="4663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Regla: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Regla general: GCS para archivos, BigQuery para tablas analíticas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GCS: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exports crudos, CVs y documentos, backups, datos &gt; 1 año (Coldline/Archive)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BQ: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consultas SQL, dashboards, ML, tablas dimensionales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Unión: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BigLake une ambos mundos: consultas SQL sobre Parquet en GCS, sin duplicar datos.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5852160" y="1051560"/>
            <a:ext cx="2743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5852160" y="10515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852160" y="1691640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852160" y="16916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852160" y="2331720"/>
            <a:ext cx="274320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852160" y="2331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Lake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852160" y="777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Dos almacenes, una consulta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¿Dónde se va la factura en GCP?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6" name="Google Shape;276;p13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{96D23EA9-6533-4178-A61D-1AB15E976BB6}</a:tableStyleId>
              </a:tblPr>
              <a:tblGrid>
                <a:gridCol w="2560325"/>
                <a:gridCol w="5486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Servicio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Coste típico en People Analytics y cómo controlarlo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BigQuery queries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$6,25/TB procesado · controlar con particionado, clustering y require_partition_filter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BigQuery storage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$0,02/GB·mes (activo) · long-term storage automático tras 90 días sin modificar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Cloud Storage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$0,02/GB·mes (Standard) · usar Nearline/Coldline/Archive para datos históricos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Cloud Functions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$0,40/millón invocaciones · típicamente &lt;$10/mes en PA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Vertex AI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Variable · apagar endpoints no usados, AutoML con budget limitado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Observabilidad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Cloud Logging y Monitoring · ingesta cobrada por GB, ajustar niveles de log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277" name="Google Shape;277;p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BigQuery: On-Demand vs Editions vs Reservations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4" name="Google Shape;284;p14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{96D23EA9-6533-4178-A61D-1AB15E976BB6}</a:tableStyleId>
              </a:tblPr>
              <a:tblGrid>
                <a:gridCol w="1463050"/>
                <a:gridCol w="2194550"/>
                <a:gridCol w="2194550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On-Demand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Editions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Reservations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Modelo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Pago por TB procesado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Suscripción (Standard/Enterprise/Plus)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Slots reservados por tiempo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Cuándo conviene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Uso variable, bajo volumen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Uso predecible, features avanzadas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Slots ociosos si cae el uso volumen recurrente, SLA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Control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Looker Studio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Maximum bytes billed por query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Autoscaling de slots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Riesgo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10B981"/>
                          </a:solidFill>
                        </a:rPr>
                        <a:t>Facturas sorpresa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F59E0B"/>
                          </a:solidFill>
                        </a:rPr>
                        <a:t>Sub-uso de la suscripción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EF4444"/>
                          </a:solidFill>
                        </a:rPr>
                        <a:t>Alto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14"/>
          <p:cNvSpPr/>
          <p:nvPr/>
        </p:nvSpPr>
        <p:spPr>
          <a:xfrm>
            <a:off x="548640" y="3474720"/>
            <a:ext cx="8046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Para People Analytics (datasets pequeños, uso moderado), On-Demand suele ser suficiente al inicio. Editions cuando el uso se vuelve predecible.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BigLake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Analytics Hub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BigLake: BigQuery sobre Cloud Storage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1" name="Google Shape;301;p16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{96D23EA9-6533-4178-A61D-1AB15E976BB6}</a:tableStyleId>
              </a:tblPr>
              <a:tblGrid>
                <a:gridCol w="1280150"/>
                <a:gridCol w="2377450"/>
                <a:gridCol w="43891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Aspecto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Sin BigLake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Con BigLake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Seguridad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Permisos GCS separados de BQ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Permisos unificados vía IAM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Row/Column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Solo en tablas nativas BQ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También en tablas externas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Consulta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Cargar antes en BQ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SQL directo sobre GCS (Parquet/ORC/JSON)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EF4444"/>
                          </a:solidFill>
                        </a:rPr>
                        <a:t>Coste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03030"/>
                          </a:solidFill>
                        </a:rPr>
                        <a:t>Almacenamiento doble (GCS + BQ)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EF4444"/>
                          </a:solidFill>
                        </a:rPr>
                        <a:t>Solo almacenamiento GCS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Formatos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03030"/>
                          </a:solidFill>
                        </a:rPr>
                        <a:t>CSV/JSON limitados </a:t>
                      </a: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Parquet, ORC, JSON, Avro, Iceberg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Ideal para fichajes, logs, CVs y datos históricos archivados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16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Caso típico en PA: fichajes voluminosos en Parquet · consultables desde BigQuery sin recargar.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Checklist de arquitectura en GCP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548640" y="105156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548640" y="1051560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731520" y="105156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¿Al menos 3 proyectos (dev, staging, prod)?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548640" y="170992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548640" y="1709928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731520" y="170992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¿Region europe-southwest1 o EU multi-region (GDPR)?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548640" y="236829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548640" y="2368296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731520" y="23682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¿Arquitectura Medallion (Bronze/Silver/Gold)?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548640" y="302666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548640" y="3026664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731520" y="302666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¿IAM con principio de mínimo privilegio?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4754880" y="105156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4754880" y="1051560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4937760" y="105156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¿Service accounts por función, sin claves personales?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4754880" y="170992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4754880" y="1709928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4937760" y="170992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¿Particionado + clustering en tablas grandes?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4754880" y="236829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4754880" y="2368296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4937760" y="23682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¿Presupuesto con alertas en Cloud Billing?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4754880" y="302666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4754880" y="3026664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4937760" y="302666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¿Cloud DLP + Secret Manager activados?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Si no puedes marcar todas → fix antes de ingestar datos reales de producción.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Analytics Hub: compartir datasets seguro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4" name="Google Shape;344;p18"/>
          <p:cNvGraphicFramePr/>
          <p:nvPr/>
        </p:nvGraphicFramePr>
        <p:xfrm>
          <a:off x="54864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{96D23EA9-6533-4178-A61D-1AB15E976BB6}</a:tableStyleId>
              </a:tblPr>
              <a:tblGrid>
                <a:gridCol w="1645925"/>
                <a:gridCol w="3200400"/>
                <a:gridCol w="3200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Aplicación en People Analytics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Publisher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Equipo de People Analytics publica datasets Gold curados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gold_metricas_rotacion, gold_brecha_salarial, headcount_monthly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Subscriber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RRHH, Finanzas, Dirección se suscriben desde sus proyectos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Reciben un linked dataset de solo lectura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Exchange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Catálogo central de datasets disponibles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Descubribles, con metadatos y ownership claro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Listing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Ficha del dataset compartido con docs y SLA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Aprobación manual o automática por dominio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Coste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El publisher paga storage; el subscriber paga sus queries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Sin duplicar datos: los datos viven en el proyecto del publisher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Google Shape;345;p18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Detectar en Vertex AI: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Preferible a compartir con IAM directo: auditoría central, catálogo, desuscripción limpia</a:t>
            </a: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Caso típico: RRHH ve rotación y clima · Finanzas ve coste laboral · Dirección ve todo, desde un único catálogo.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Control de costes: 4 palancas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0" i="1" lang="es" sz="13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La factura en BigQuery se controla en varias capas. Un solo control no basta.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45720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45720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59436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Modelado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9436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Particionado por fecha y clustering por claves frecuentes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246888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265176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2651760" y="1371600"/>
            <a:ext cx="20116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265176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278892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278892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WHERE partition filter obligatorio · SELECT específico, nunca *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466344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484632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4846320" y="137160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484632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498348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Presupuesto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498348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Cloud Billing budgets · alertas al 50/80/100%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685800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704088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7040880" y="13716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704088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🏛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717804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Monitorización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717804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INFORMATION_SCHEMA.JOBS · top consultas por coste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Ejemplo real del curso: query sobre INFORMATION_SCHEMA.JOBS para detectar top-20 queries más caras del mes.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IAM y ingesta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Roles IAM recomendados en People Analytics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4" name="Google Shape;394;p21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{96D23EA9-6533-4178-A61D-1AB15E976BB6}</a:tableStyleId>
              </a:tblPr>
              <a:tblGrid>
                <a:gridCol w="2194550"/>
                <a:gridCol w="3108950"/>
                <a:gridCol w="27432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Rol IAM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Para quién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Acceso concedido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bigquery.dataViewer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Analistas de RRHH · grupo pa-analysts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Solo lectura sobre datasets Gold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bigquery.dataEditor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SA de ETL · grupo pa-engineers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Lectura y escritura en Bronze / Silver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065F46"/>
                          </a:solidFill>
                        </a:rPr>
                        <a:t>bigquery.jobUser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065F46"/>
                          </a:solidFill>
                        </a:rPr>
                        <a:t>Todos los que ejecutan queries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065F46"/>
                          </a:solidFill>
                        </a:rPr>
                        <a:t>Permite lanzar consultas y facturarlas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dataform.editor + aiplatform.user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Ingenieros de datos y data scientists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Transformaciones en Dataform y uso de Vertex AI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5" name="Google Shape;395;p21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Regla: nunca roles/owner ni roles/editor en producción. Permisos a grupos, no a personas.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Cadena de custodia del dato sensible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548640" y="10058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1097280" y="100584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CONSUMO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3474720" y="1005840"/>
            <a:ext cx="5029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BigQuery con CMEK · column-level security · audit logs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457200" y="1719072"/>
            <a:ext cx="7772400" cy="566928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548640" y="17190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1097280" y="1719072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ALMACENAMIENTO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3474720" y="17190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GCS en europe-southwest1 · CMEK · uniform bucket-level access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457200" y="2432304"/>
            <a:ext cx="731520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548640" y="243230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1097280" y="2432304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PROCESAMIENTO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3474720" y="2432304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Functions en memoria · sin persistencia local · timeouts cortos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457200" y="3145536"/>
            <a:ext cx="68580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548640" y="314553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1097280" y="3145536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TRANSFERENCIA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3474720" y="3145536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TLS 1.2+ por defecto en APIs GCP · SFTP si origen lo requiere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457200" y="3858768"/>
            <a:ext cx="6400800" cy="566928"/>
          </a:xfrm>
          <a:prstGeom prst="rect">
            <a:avLst/>
          </a:prstGeom>
          <a:solidFill>
            <a:srgbClr val="6B7280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548640" y="38587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097280" y="385876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CREDENCIALES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3474720" y="385876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Secret Manager para API keys · nunca hardcoded ni en .env de prod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1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Cada capa debe auditarse. Cloud DLP detecta PII no esperada.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1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Flujo E2E: del HRIS al dashboard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548640" y="685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s" sz="9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EJEMPLO: TASA DE ROTACIÓN MENSUAL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548640" y="1051560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640080" y="1051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1. Personio API → Cloud Function (06:00h)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548640" y="1572768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64008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2. JSON aterriza en gs://pa-datalake/hris/raw/YYYY-MM-DD/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548640" y="2093976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640080" y="209397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3. Eventarc detecta el archivo nuevo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548640" y="2615184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640080" y="261518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4. Cloud Function inserta en bronze_personio (BQ)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548640" y="3136392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640080" y="313639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5. Dataform a las 07:00h · bronze → silver → gold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4846320" y="1051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6. Looker Studio consume gold_people_analytics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4754880" y="1572768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484632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7. Dashboard actualizado antes de las 09:00h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4754880" y="2093976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4846320" y="209397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8. Monitor alerta si algún paso falla o supera SLA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4754880" y="2615184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4846320" y="261518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9. Cloud Logging deja traza completa para auditoría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4754880" y="3136392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4846320" y="313639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10. Página de "estado del dato" visible en Looker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548640" y="3840480"/>
            <a:ext cx="196596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54864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Ingesta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2697480" y="3840480"/>
            <a:ext cx="19659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269748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Transformación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4846320" y="3840480"/>
            <a:ext cx="196596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484632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Consumo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6995160" y="3840480"/>
            <a:ext cx="19659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699516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4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Ideas clave del módulo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548640" y="1051560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548640" y="1051560"/>
            <a:ext cx="73152" cy="5669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777240" y="105156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1463040" y="1051560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Separar dev/staging/prod no es un lujo: es un requisito GDPR Art. 25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548640" y="1764792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548640" y="1764792"/>
            <a:ext cx="73152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777240" y="1764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1463040" y="1764792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GCS para raw y archivo, BigQuery para analítica, BigLake para unirlos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548640" y="2478024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548640" y="2478024"/>
            <a:ext cx="73152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777240" y="2478024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1463040" y="2478024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Arquitectura Medallion (Bronze/Silver/Gold) como patrón estándar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548640" y="3191256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548640" y="3191256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777240" y="3191256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1463040" y="3191256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IAM de mínimo privilegio: grupos, service accounts por función, sin owner en prod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548640" y="3904488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548640" y="390448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777240" y="390448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1463040" y="3904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Control de costes multi-capa: particionado, budgets, INFORMATION_SCHEMA, alertas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5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Práctica: notebook del Módulo 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914400" y="182880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1097280" y="182880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INFORMATION_SCHEMA: inventario de datasets, tablas y particiones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914400" y="242316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1097280" y="242316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Cloud Storage como Data Lake · subir Parquet desde Silver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914400" y="301752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1097280" y="301752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BigLake: crear tabla externa sobre Parquet en GCS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914400" y="361188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1097280" y="361188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Auditoría de jobs · IAM y vistas autorizadas · Analytics Hub · labels dev/prod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Test de conceptos + feedback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1371600" y="210312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1554480" y="210312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¿Vuestra arquitectura actual separa dev/staging/prod?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1371600" y="265176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1554480" y="265176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¿Cómo distribuís hoy GCS vs BigQuery en vuestros proyectos?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1371600" y="320040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1554480" y="320040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¿Qué controles de coste tenéis en BigQuery (budgets, slots, partition filter)?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1371600" y="374904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1554480" y="374904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¿Habéis usado BigLake o Analytics Hub? ¿Qué os frena o impulsa?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Fin de la Sesión 1 · Próxima sesión: Ingesta de datos y pipelines basados en eventos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
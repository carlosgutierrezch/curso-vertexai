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DM Sans Medium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2EAA87-3326-41D5-AACD-D48B7165750A}">
  <a:tblStyle styleId="{872EAA87-3326-41D5-AACD-D48B7165750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3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DMSansMedium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DMSansMedium-italic.fntdata"/><Relationship Id="rId14" Type="http://schemas.openxmlformats.org/officeDocument/2006/relationships/slide" Target="slides/slide7.xml"/><Relationship Id="rId36" Type="http://schemas.openxmlformats.org/officeDocument/2006/relationships/font" Target="fonts/DMSansMedium-bold.fntdata"/><Relationship Id="rId17" Type="http://schemas.openxmlformats.org/officeDocument/2006/relationships/slide" Target="slides/slide10.xml"/><Relationship Id="rId39" Type="http://schemas.openxmlformats.org/officeDocument/2006/relationships/font" Target="fonts/DMSans-regular.fntdata"/><Relationship Id="rId16" Type="http://schemas.openxmlformats.org/officeDocument/2006/relationships/slide" Target="slides/slide9.xml"/><Relationship Id="rId38" Type="http://schemas.openxmlformats.org/officeDocument/2006/relationships/font" Target="fonts/DMSansMedium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Abrir con el ejemplo de la empresa que analizó patrones de Slack para predecir rotación. Preguntar a la audiencia si les parece legítimo.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ejercicio interactivo. Pedir a alguien que nombre un dato que recopilan y pasarlo por los 4 filtros juntos.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Enfatizar que el mayor valor de ML (y de Vertex AI) está en datos semiestructurados y comportamentales. Un HRIS da reporting; Vertex AI da predicción.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Recalcar que sin el feedback loop (fase 7), no hay mejora. Muchas organizaciones llegan hasta 'Análisis' y no cierran el ciclo.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es el caso más común en People Analytics. Detenerse en la trampa del sesgo — si históricamente se van más mujeres post-maternidad, el modelo lo codifica como 'señal'.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cluster 2 es el más interesante — demuestra cómo el dato revela problemas de liderazgo. Manejar con sensibilidad: no es 'culpar al manager' sino entender patrones.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caso suele generar debate. El lenguaje que usamos revela sesgos inconscientes. Es un caso perfecto para LLMs.</a:t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Conectar con el caso de Amazon que tuvo que retirar su herramienta de screening de CVs por sesgo de género. Es un caso muy conocido y relevante.</a:t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Pasar rápido pero detenerse en feedback loops y proxy discrimination, que son los menos intuitivos.</a:t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Un dashboard informativo tiene bajo riesgo. Un sistema que recomienda a quién promover debe pasar auditorías de sesgo.</a:t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Detenerse en Art. 22 — un score de Vertex AI NO puede ser la única base para despido o no-promoción.</a:t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Imprimir esto y tenerlo visible en cada proyecto. Es la mejor herramienta anti-riesgo.</a:t>
            </a:r>
            <a:endParaRPr/>
          </a:p>
        </p:txBody>
      </p:sp>
      <p:sp>
        <p:nvSpPr>
          <p:cNvPr id="313" name="Google Shape;313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mensaje clave es que los sesgos no son un error del modelo sino una herencia de los datos. Hay que buscarlos activamente.</a:t>
            </a:r>
            <a:endParaRPr/>
          </a:p>
        </p:txBody>
      </p:sp>
      <p:sp>
        <p:nvSpPr>
          <p:cNvPr id="346" name="Google Shape;346;p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Analogía con seguridad — no pones solo un firewall, pones defensa en profundidad. Con sesgos es igual.</a:t>
            </a:r>
            <a:endParaRPr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Preguntar a la audiencia qué modelo tienen y qué problemas encuentran. Suele generar buena discusión.</a:t>
            </a:r>
            <a:endParaRPr/>
          </a:p>
        </p:txBody>
      </p:sp>
      <p:sp>
        <p:nvSpPr>
          <p:cNvPr id="396" name="Google Shape;396;p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el assessment rápido (10 preguntas sí/no) con la audiencia. Genera autoconciencia y motivación.</a:t>
            </a:r>
            <a:endParaRPr/>
          </a:p>
        </p:txBody>
      </p:sp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Pedir que levanten la mano por niveles. Normalizar que la mayoría esté en nivel 2-3; el curso está diseñado para subir de nivel.</a:t>
            </a:r>
            <a:endParaRPr/>
          </a:p>
        </p:txBody>
      </p:sp>
      <p:sp>
        <p:nvSpPr>
          <p:cNvPr id="433" name="Google Shape;433;p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792000" y="1790025"/>
            <a:ext cx="756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Google Cloud Platform y Vertex AI</a:t>
            </a:r>
            <a:r>
              <a:rPr b="0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para Analistas de Datos Avanzados</a:t>
            </a:r>
            <a:endParaRPr b="1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496200" y="2621313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Carlos Gutiérrez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496200" y="2975257"/>
            <a:ext cx="8151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Módulo 4 · Pipelines Basados en Eventos en GCP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Agenda del Módulo 4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PEOPLE ANALYTICS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p16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1097275"/>
                <a:gridCol w="530352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Bloque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Tema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T/P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4.1 Arquitecturas event-driven en GCP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4.2 Eventarc para reaccionar a eventos en Cloud Storage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4.3 Automatización de pipelines de Dataflow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4.4 Procesamiento batch basado en eventos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4.5 Buenas prácticas para pipelines resilientes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event-driven en GCP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¿Qué es una arquitectura event-driven?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1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Los sistemas reaccionan automáticamente a eventos, sin horarios fijos ni polling manual.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54864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548640" y="155448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73152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Reactivo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73152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pipeline se dispara en el instante en que ocurre algo (archivo nuevo, mensaje, cambio de estado).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383280" y="15544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56616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Desacoplado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productor del evento no sabe quién lo va a procesar. Se pueden añadir consumidores sin tocar el origen.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Eficiente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40080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Solo consume recursos cuando hay eventos. Sin crons que corren en vacío a las 3 AM.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Patrón GCP: evento (archivo, mensaje) → trigger (Eventarc) → acción (Cloud Function, Cloud Run, Workflows)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Componentes de una arquitectura event-driven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Los eventos fluyen de productores a consumidores a través de un enrutador central: Eventarc.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1371600" y="13716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005840" y="1417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005840" y="1417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554480" y="13716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669280" y="123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GCS, Pub/Sub, Audit Logs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371600" y="20574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005840" y="21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554480" y="20574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EVENTARC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669280" y="192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enrutador de eventos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1371600" y="27432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005840" y="27889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1005840" y="2788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1554480" y="2743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669280" y="2610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Cloud Function, Cloud Run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371600" y="3429000"/>
            <a:ext cx="4114800" cy="50292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005840" y="3474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100584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1554480" y="34290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669280" y="329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procesamiento real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Eventarc filtra por tipo, fuente y atributos. Un mismo evento puede enrutarse a varios destinos.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Eventos GCP relevantes para People Analytics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2011675"/>
                <a:gridCol w="384047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Fuente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Tipo CloudEvent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Ejemplo en PA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Cloud Storage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storage.object.v1.finalized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Archivo CSV de nómina depositado en el bucket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Cloud Storage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storage.object.v1.deleted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Archivo procesado y eliminado del landing zone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Pub/Sub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pubsub.topic.v1.messagePublished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Evento de nueva alta recibido en hr-events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BigQuery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bigquery.v2.JobCompleted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Query de transformación Silver → Gold completada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Cloud Audit Logs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audit.log.v1.written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Alguien accedió a datos sensibles (alerta)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20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 el notebook: configurarás notificación GCS → Pub/Sub y consumirás eventos desde Python (sin desplegar Cloud Functions).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Cron-based vs Event-driven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46304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2670048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877056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084064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291072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749808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Cron: ejecuta a hora fija · Event-driven: ejecuta cuando ocurre algo real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Georgia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Ventajas comparadas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48640" y="2834640"/>
            <a:ext cx="73152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4864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73152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Latencia</a:t>
            </a:r>
            <a:endParaRPr b="0" i="0" sz="1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73152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Cron: depende del intervalo (1h, 1día) · Event-driven: inmediata (segundos).</a:t>
            </a:r>
            <a:endParaRPr b="0" i="0" sz="9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383280" y="2834640"/>
            <a:ext cx="73152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38328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56616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Coste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356616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Cron: se ejecuta aunque no haya datos · Event-driven: solo cuando hay eventos.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217920" y="2834640"/>
            <a:ext cx="73152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621792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640080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Resiliencia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40080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Cron: si falla, esperar al siguiente ciclo · Event-driven: retry automático con backoff.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48640" y="361188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4864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3152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73152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Cron: baja (Scheduler + Function) · Event-driven: media (Eventarc + Function).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383280" y="3611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38328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356616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Cuándo cron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56616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ETL diario previsible, reporting mensual, tareas de mantenimiento fijas.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217920" y="361188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21792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640080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Cuándo eventos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40080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Archivos impredecibles, webhooks de terceros, disparos por cambios de estado.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Eventarc sobre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¿Qué es Eventarc?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86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31520" y="109728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Fuente: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Eventarc es el enrutador de eventos de GCP: conecta fuentes (GCS, Pub/Sub, Audit Logs) con destinos.</a:t>
            </a: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Formato: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Usa CloudEvents (estándar CNCF) como formato común: portable y neutral frente a proveedor.</a:t>
            </a: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Destino: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Destinos soportados: Cloud Run, Cloud Functions (gen2), Cloud Workflows, GKE.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6634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846320" y="10789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4901545" y="13075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Georgia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 en 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702855" y="1353308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1" i="0" lang="es" sz="1000" u="none" cap="none" strike="noStrike">
                <a:solidFill>
                  <a:srgbClr val="303030"/>
                </a:solidFill>
              </a:rPr>
              <a:t>1 router</a:t>
            </a:r>
            <a:endParaRPr b="1"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84632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Beneficio: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 fuentes → Eventarc → M destinos. Sin acoplar productores y consumidores.</a:t>
            </a: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Filtrado declarativo: por tipo, bucket, prefijo, atributos personalizados.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48665" y="2832610"/>
            <a:ext cx="8046600" cy="5487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731520" y="2832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Tip: </a:t>
            </a: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En PA: detecta archivos nuevos en /personio/raw/ o /payroll/raw/ y dispara procesamiento automático.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Eventarc trigger vs GCS Pub/Sub notifications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Qué: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Dos caminos para llevar eventos de GCS a un consumidor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Cuándo: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Elegir según si necesitas Cloud Function/Run o si te basta con consumir mensajes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Setup: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gcloud eventarc triggers · gcloud storage buckets notifications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54864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548640" y="141732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🗓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8580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Eventarc trigger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8580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Conecta GCS con Cloud Function o Cloud Run. Evento llega como CloudEvent. Requiere desplegar código.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342900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356616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GCS Pub/Sub Notif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356616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GCS publica directamente en un topic Pub/Sub. Cualquier subscriber puede consumir, incluso un notebook.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630936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6309360" y="1417320"/>
            <a:ext cx="2697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644652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¿Cuál usar?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644652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Trigger: si quieres una Cloud Function que procese el archivo. Notif: si quieres flexibilidad y simplicidad.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En el notebook usarás GCS Pub/Sub notifications: más simple y compatible con el entorno Jupyter.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Cloud Function disparada por GCS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486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31520" y="141732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Evento: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Archivo nuevo en gs://*-datalake/personio/raw/ → GCS emite evento finalized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Routing: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Eventarc enruta el evento a la Cloud Function procesar_archivo_personio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Proceso: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Función lee el archivo con storage.Client, parsea CSV/JSON con pandas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46634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Ingesta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846320" y="141732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se extrae del path (formato /raw/YYYY-MM-DD/). Se añade como columna.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Carga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DELETE por (fecha, source_file) + INSERT a bronze_personio. Idempotente.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1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CloudEvent contiene bucket, nombre, tamaño y metadatos del objeto.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Patrón: GCS → Eventarc → Cloud Function → BigQuery, con idempotencia por partición.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Pipeline event-driven: caso nómina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8640" y="96012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48640" y="96012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731508" y="1143005"/>
            <a:ext cx="4663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Equipo de nómina sube un CSV cuando está listo. El resto es automático.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Upload: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Upload → GCS emite evento → Eventarc enruta → Cloud Function procesa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Fallos: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La función valida esquema, transforma, carga a BigQuery y mueve archivo a /processed/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Proceso: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Si falla: retry automático × 3. Si persiste: dead letter para revisión manual.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Eventarc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85216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 archivo a tabla, sin intervención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Frecuencia típica de eventos HR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p27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2560325"/>
                <a:gridCol w="5486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Tipo de evento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Frecuencia y patrón recomendado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Nueva alta / baja empleado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Esporádico (1-10/día). Webhook o API polling. Cloud Function con respuesta &lt; 5s.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Cambio salarial / promoción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Mensual en batch. File drop → Eventarc → Cloud Function. Se admite latencia de horas.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Fichaje entrada / salida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Volumen alto. Micro-batch event-driven: acumular 15 min → cargar BigQuery en lotes.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Respuesta de encuesta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Durante la campaña. Webhook Forms → Pub/Sub → batch por hora a gold_people_analytics.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Evaluación desempeño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Semestral. Archivo completo. File drop → Cloud Function → tabla fact_performance_review.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Cambio organizativo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Raro. Requiere human-in-the-loop: evento dispara notificación a data steward antes de procesar.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Filtrado de eventos: path-pattern y tipos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28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1463050"/>
                <a:gridCol w="2194550"/>
                <a:gridCol w="2194550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event-filter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path-pattern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service-account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Qué filtra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Tipo de evento CloudEvent (finalized, deleted...)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Subconjunto dentro del bucket por prefijo/patrón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Identidad que ejecuta la función o el servicio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Ejemplo en PA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type=google.cloud.storage.object.v1.finalized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name=payroll/raw/* (solo archivos de nómina)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sa-cf@proyecto.iam.gserviceaccount.com (no owner)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Beneficio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Un solo trigger por tipo de evento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Una Cloud Function atiende solo su carpeta (payroll, personio...)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Cloud Scheduler → Cloud Function → GCS →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Latencia aceptable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10B981"/>
                          </a:solidFill>
                        </a:rPr>
                        <a:t>&lt; 1 minuto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F59E0B"/>
                          </a:solidFill>
                        </a:rPr>
                        <a:t>Horas (batch nocturno)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EF4444"/>
                          </a:solidFill>
                        </a:rPr>
                        <a:t>Segundos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8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Regla: una Cloud Function por tipo de archivo. Evitar funciones genéricas que procesan de todo.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pipelines de Dataflow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Cloud Functions vs Dataflow: cuándo cada uno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p30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1280150"/>
                <a:gridCol w="2377450"/>
                <a:gridCol w="4389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Cloud Functions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Dataflow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Volumen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&lt; 100K registros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&gt; 100K registros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Duración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&lt; 9 min (límite gen2)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Sin límite (jobs de horas)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Paralelismo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Limitado (instancias)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Autoscaling de workers (distribuido)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Coste mínimo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~$0 (pay per invocation)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~$10-50/mes (workers mínimos)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Caso en PA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Ingesta diaria Personio (&lt; 1K filas) </a:t>
                      </a: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Procesamiento masivo fichajes o NLP de evaluaciones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Cloud Functions cubre el 90% de PA. Dataflow solo cuando el volumen o la complejidad lo justifican.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30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Para el cliente (209 empleados): Cloud Functions es suficiente. Dataflow se menciona para escalabilidad.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Pipeline Dataflow: DoFns para limpiar y validar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4864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54864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73152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LimpiarRegistroEmpleado: normaliza género (F/M/U) y position_band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4864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54864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73152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Flag ANOMALIA si la banda no está en {P1-P3, E1-E2, M2-M3}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54864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54864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73152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Flag salario si está fuera del rango 15K-300K EUR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54864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54864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73152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ValidarCalidad: separa VALID/INVALID con beam.pvalue.TaggedOutput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475488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475488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493776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Válidos → silver_personio.dim_employee (WRITE_TRUNCATE)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475488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475488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493776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Inválidos → bronze_personio.errores_ingesta (WRITE_APPEND)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475488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475488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493776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Dataflow permite multi-output nativo: divides el flujo sin pipelines paralelos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475488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493776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Cada DoFn se ejecuta en paralelo sobre un shard: escala sin tocar código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En Dataflow, cada función pura (DoFn) se puede testear aisladamente sin correr el pipeline entero.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Templates de Dataflow (sin código)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32"/>
          <p:cNvGraphicFramePr/>
          <p:nvPr/>
        </p:nvGraphicFramePr>
        <p:xfrm>
          <a:off x="54864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1645925"/>
                <a:gridCol w="3200400"/>
                <a:gridCol w="3200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Template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Caso de uso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Ejemplo en People Analytics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GCS Text to BQ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CSV/JSON en GCS → tabla BigQuery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Export de Personio → bronze_personio.raw_employee_data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Pub/Sub to BQ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Stream de mensajes → tabla BQ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Fichajes en Pub/Sub → bronze_personio.events_pubsub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Pub/Sub to GCS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Stream → archivos en GCS (archivado)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Retener histórico crudo antes de procesar en BigQuery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BQ to Bigtable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Export de agregados desde BQ → Bigtable (baja latencia)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Casos avanzados: servir scoring ML desde un dashboard en vivo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Coste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JDBC to BQ: replicar datos desde una BBDD corporativa a BigQuery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Sin código: configuras parámetros vía gcloud dataflow jobs run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0" name="Google Shape;350;p32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Detectar en Vertex AI: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Templates: reemplazan Cloud Functions cuando el volumen crece sin reescribir nada.</a:t>
            </a: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 PA: considerar cuando los datos de fichajes o encuestas crecen por encima de 100K/mes.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¿Cuándo Dataflow en People Analytics?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0" i="1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Dataflow es potente pero caro y complejo. Solo cuando Cloud Functions se queda corta.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9436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Fichajes masivos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9436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Dataflow: miles de fichajes/día, joins con turnos, detección de anomalías.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46888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65176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278892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NLP evaluaciones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278892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Dataflow: análisis de texto sobre miles de evaluaciones. Batch pesado.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466344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484632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498348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Cross-source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498348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Dataflow: unir Personio + ATS + nómina + encuestas con transformaciones complejas.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685800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7040880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704088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🏛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717804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Ingesta Personio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717804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NO Dataflow: 209 filas diarias caben en una Cloud Function simple.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Dataflow aporta valor cuando el volumen supera 100K registros/ejecución.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Pipelines resilientes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buenas prácticas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7 principios de un pipeline resiliente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9" name="Google Shape;399;p35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{872EAA87-3326-41D5-AACD-D48B7165750A}</a:tableStyleId>
              </a:tblPr>
              <a:tblGrid>
                <a:gridCol w="2194550"/>
                <a:gridCol w="3108950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Principio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Qué garantiza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Cómo implementarlo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Idempotencia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Re-ejecutar sin duplicar ni corromper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DELETE + INSERT por fecha + source_file · MERGE por clave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Retry automático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Reintentar tras fallos transitorios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Backoff exponencial (2s, 4s, 8s...) · Eventarc retry policy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Dead letter queue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065F46"/>
                          </a:solidFill>
                        </a:rPr>
                        <a:t>Aislar mensajes venenosos sin bloquear el pipeline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Topic DLQ en Pub/Sub · tabla errores_ingesta en BigQuery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Validación de entrada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Rechazar datos malformados antes de procesarlos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Assertions · schema Avro · tipo/null checks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35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Bonus: Logging estructurado (JSON) · alertas Cloud Monitoring · circuit breaker por tasa de error.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 micro-batch event-driven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548640" y="10058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1097280" y="100584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3474720" y="100584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evento HR llega a Pub/Sub o GCS. No se procesa uno a uno.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457200" y="1719072"/>
            <a:ext cx="7772400" cy="56692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548640" y="17190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1097280" y="17190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3474720" y="17190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Function acumula eventos en gs://*-datalake/buffer/hr-events/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457200" y="2432304"/>
            <a:ext cx="7315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548640" y="24323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1097280" y="243230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UMBRAL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3474720" y="243230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dispara el batch cada 15 min o cuando hay 100 eventos acumulados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457200" y="3145536"/>
            <a:ext cx="68580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1097280" y="314553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CARGA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3474720" y="314553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Function procesa todos a la vez y hace WRITE_APPEND a BigQuery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457200" y="3858768"/>
            <a:ext cx="640080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548640" y="38587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097280" y="38587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LIMPIEZA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3474720" y="385876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Buffer vaciado tras cada batch. Sin acumulación indefinida.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1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Ventaja: coste de streaming con eficiencia de batch. Ideal para encuestas, fichajes y webhooks ATS.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Pipeline resiliente completo: caso Personio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548640" y="685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EJEMPLO: INGESTA DIARIA CON @retry_with_backoff + VALIDACIÓN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Cloud Scheduler dispara Cloud Function a las 06:00h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64008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Función decorada con retry (max_retries=3, backoff=2s, 4s, 8s)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548640" y="2093976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64008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Extrae datos de Personio API. Loguea registros extraídos.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548640" y="2615184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64008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4. Valida cada registro. Split valid / invalid con beam.TaggedOutput.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548640" y="3136392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64008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5. Circuit breaker: si &gt; 10% inválidos, raise ValueError (no cargar).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6. Válidos → bronze_personio.raw_employee_data (idempotente DELETE+INSERT).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4754880" y="1572768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484632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7. Inválidos → bronze_personio.errores_ingesta (revisión semanal manual).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4754880" y="2093976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484632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8. Alerta Cloud Monitoring: si no hay logs antes de 08:00, email al equipo.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4754880" y="2615184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484632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9. Logs estructurados en JSON: pipeline, archivo, registros, duracion_ms.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4754880" y="3136392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10. Si falla tras 3 reintentos → Cloud Function termina con error. Alerta dispara.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Ideas clave del módulo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548640" y="1051560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777240" y="105156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1463040" y="1051560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Event-driven reemplaza crons: ejecución solo cuando ocurre algo relevante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548640" y="1764792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548640" y="1764792"/>
            <a:ext cx="73152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777240" y="1764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1463040" y="176479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Eventarc conecta fuentes (GCS, Pub/Sub, Audit Logs) con destinos declarativamente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548640" y="2478024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548640" y="2478024"/>
            <a:ext cx="73152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777240" y="247802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1463040" y="2478024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Cloud Functions cubre el 90% de PA; Dataflow solo cuando el volumen lo justifica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548640" y="3191256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48640" y="319125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777240" y="319125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1463040" y="3191256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Micro-batch event-driven = lo mejor de ambos mundos para volumen medio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548640" y="3904488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548640" y="39044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777240" y="39044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1463040" y="3904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7 principios resilientes: idempotencia, retry, DLQ, validación, logs, alertas, circuit breaker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9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Práctica: notebook del Módulo 4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914400" y="182880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1097280" y="182880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Configurar notificación GCS → Pub/Sub y consumir el evento desde Python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914400" y="242316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1097280" y="242316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Pipeline event-driven simulado: subir CSV → procesar → cargar a BigQuery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914400" y="301752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1097280" y="301752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Idempotencia (DELETE+INSERT), retry con backoff, validación con dead letter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914400" y="361188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1097280" y="361188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Logging estructurado (StructuredLogHandler) · limpieza idempotente de notificación y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Cierre Sesión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1371600" y="210312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1554480" y="210312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pipelines tenéis hoy basados en cron vs event-driven?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1371600" y="265176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1554480" y="265176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¿Dónde aterrizan los archivos de vuestros sistemas fuente?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1554480" y="320040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¿Cómo gestionáis hoy los reintentos cuando falla una ingesta?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1371600" y="374904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1554480" y="374904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¿Tenéis alertas activas si el pipeline no se ejecuta a tiempo?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Próxima sesión · Módulo 5 Orquestación + Módulo 6 BigQuery Avanzado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